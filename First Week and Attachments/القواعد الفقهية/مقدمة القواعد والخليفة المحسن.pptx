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Century Gothic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Kxm5/RxQRYWzo22eFdTP2JRGN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enturyGothic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italic.fntdata"/><Relationship Id="rId14" Type="http://schemas.openxmlformats.org/officeDocument/2006/relationships/font" Target="fonts/CenturyGothic-bold.fntdata"/><Relationship Id="rId17" Type="http://customschemas.google.com/relationships/presentationmetadata" Target="metadata"/><Relationship Id="rId16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E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Google Shape;33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5" name="Google Shape;35;p10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9" name="Google Shape;49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2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2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7" name="Google Shape;57;p12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9" name="Google Shape;59;p12"/>
          <p:cNvSpPr txBox="1"/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3" type="body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7" name="Google Shape;77;p14"/>
          <p:cNvSpPr txBox="1"/>
          <p:nvPr>
            <p:ph idx="4" type="body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7" name="Google Shape;97;p16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8" name="Google Shape;98;p16"/>
          <p:cNvSpPr txBox="1"/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2" type="body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7" name="Google Shape;107;p1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6" name="Google Shape;116;p17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7" name="Google Shape;117;p17"/>
          <p:cNvSpPr txBox="1"/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/>
          <p:nvPr>
            <p:ph idx="2" type="pic"/>
          </p:nvPr>
        </p:nvSpPr>
        <p:spPr>
          <a:xfrm>
            <a:off x="6547870" y="1143000"/>
            <a:ext cx="3227193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17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4" name="Google Shape;134;p18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5" name="Google Shape;135;p18"/>
          <p:cNvSpPr txBox="1"/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/>
          <p:nvPr>
            <p:ph idx="2" type="pic"/>
          </p:nvPr>
        </p:nvSpPr>
        <p:spPr>
          <a:xfrm>
            <a:off x="1154954" y="685800"/>
            <a:ext cx="8825659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8" name="Google Shape;138;p1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4" name="Google Shape;144;p1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2" name="Google Shape;152;p19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3" name="Google Shape;153;p19"/>
          <p:cNvSpPr txBox="1"/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5" name="Google Shape;155;p1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1" name="Google Shape;161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9" name="Google Shape;169;p2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0" name="Google Shape;170;p20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EG" sz="960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EG" sz="960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4" name="Google Shape;174;p20"/>
          <p:cNvSpPr txBox="1"/>
          <p:nvPr>
            <p:ph idx="2" type="body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5" name="Google Shape;175;p20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1" name="Google Shape;181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9" name="Google Shape;189;p2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0" name="Google Shape;190;p21"/>
          <p:cNvSpPr txBox="1"/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99" name="Google Shape;199;p22"/>
          <p:cNvSpPr txBox="1"/>
          <p:nvPr>
            <p:ph idx="2" type="body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0" name="Google Shape;200;p22"/>
          <p:cNvSpPr txBox="1"/>
          <p:nvPr>
            <p:ph idx="3" type="body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1" name="Google Shape;201;p22"/>
          <p:cNvSpPr txBox="1"/>
          <p:nvPr>
            <p:ph idx="4" type="body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2" name="Google Shape;202;p22"/>
          <p:cNvSpPr txBox="1"/>
          <p:nvPr>
            <p:ph idx="5" type="body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3" name="Google Shape;203;p22"/>
          <p:cNvSpPr txBox="1"/>
          <p:nvPr>
            <p:ph idx="6" type="body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04" name="Google Shape;204;p22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22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2" name="Google Shape;212;p23"/>
          <p:cNvSpPr/>
          <p:nvPr>
            <p:ph idx="2" type="pic"/>
          </p:nvPr>
        </p:nvSpPr>
        <p:spPr>
          <a:xfrm>
            <a:off x="1334553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13" name="Google Shape;213;p23"/>
          <p:cNvSpPr txBox="1"/>
          <p:nvPr>
            <p:ph idx="3" type="body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4" name="Google Shape;214;p23"/>
          <p:cNvSpPr txBox="1"/>
          <p:nvPr>
            <p:ph idx="4" type="body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5" name="Google Shape;215;p23"/>
          <p:cNvSpPr/>
          <p:nvPr>
            <p:ph idx="5" type="pic"/>
          </p:nvPr>
        </p:nvSpPr>
        <p:spPr>
          <a:xfrm>
            <a:off x="4748462" y="2603500"/>
            <a:ext cx="2691243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16" name="Google Shape;216;p23"/>
          <p:cNvSpPr txBox="1"/>
          <p:nvPr>
            <p:ph idx="6" type="body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7" name="Google Shape;217;p23"/>
          <p:cNvSpPr txBox="1"/>
          <p:nvPr>
            <p:ph idx="7" type="body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8" name="Google Shape;218;p23"/>
          <p:cNvSpPr/>
          <p:nvPr>
            <p:ph idx="8" type="pic"/>
          </p:nvPr>
        </p:nvSpPr>
        <p:spPr>
          <a:xfrm>
            <a:off x="8163031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19" name="Google Shape;219;p23"/>
          <p:cNvSpPr txBox="1"/>
          <p:nvPr>
            <p:ph idx="9" type="body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20" name="Google Shape;220;p23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3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11" type="ftr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10" type="dt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3" name="Google Shape;233;p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5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5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2" name="Google Shape;242;p25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3" name="Google Shape;243;p25"/>
          <p:cNvSpPr txBox="1"/>
          <p:nvPr>
            <p:ph type="title"/>
          </p:nvPr>
        </p:nvSpPr>
        <p:spPr>
          <a:xfrm rot="5400000">
            <a:off x="6915923" y="2947780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 rot="5400000">
            <a:off x="1908672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5" name="Google Shape;245;p25"/>
          <p:cNvSpPr txBox="1"/>
          <p:nvPr>
            <p:ph idx="10" type="dt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جدول وشرح">
  <p:cSld name="عنوان وجدول وشرح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/>
          <p:nvPr>
            <p:ph type="title"/>
          </p:nvPr>
        </p:nvSpPr>
        <p:spPr>
          <a:xfrm>
            <a:off x="1549879" y="365127"/>
            <a:ext cx="9092242" cy="132556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6"/>
          <p:cNvSpPr txBox="1"/>
          <p:nvPr/>
        </p:nvSpPr>
        <p:spPr>
          <a:xfrm>
            <a:off x="-203324" y="6379281"/>
            <a:ext cx="7425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ar-EG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6204203" y="1919036"/>
            <a:ext cx="5274000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ين">
  <p:cSld name="محتويين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/>
          <p:nvPr>
            <p:ph type="title"/>
          </p:nvPr>
        </p:nvSpPr>
        <p:spPr>
          <a:xfrm>
            <a:off x="1549879" y="365127"/>
            <a:ext cx="9092242" cy="1325563"/>
          </a:xfrm>
          <a:prstGeom prst="round2DiagRect">
            <a:avLst>
              <a:gd fmla="val 24819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560"/>
              <a:buNone/>
              <a:def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1160" lvl="1" marL="9144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b="1" sz="32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1160" lvl="2" marL="13716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3pPr>
            <a:lvl4pPr indent="-391160" lvl="3" marL="18288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indent="-391160" lvl="4" marL="22860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6" name="Google Shape;25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560"/>
              <a:buNone/>
              <a:def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1160" lvl="1" marL="9144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b="1" sz="32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1160" lvl="2" marL="13716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3pPr>
            <a:lvl4pPr indent="-391160" lvl="3" marL="18288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indent="-391160" lvl="4" marL="22860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12" type="sldNum"/>
          </p:nvPr>
        </p:nvSpPr>
        <p:spPr>
          <a:xfrm>
            <a:off x="-38501" y="6356352"/>
            <a:ext cx="4195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  <p:sp>
        <p:nvSpPr>
          <p:cNvPr id="258" name="Google Shape;258;p27"/>
          <p:cNvSpPr/>
          <p:nvPr>
            <p:ph idx="3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">
  <p:cSld name="مقارنة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/>
          <p:nvPr>
            <p:ph type="title"/>
          </p:nvPr>
        </p:nvSpPr>
        <p:spPr>
          <a:xfrm>
            <a:off x="1558506" y="365127"/>
            <a:ext cx="9074989" cy="1325563"/>
          </a:xfrm>
          <a:prstGeom prst="round2DiagRect">
            <a:avLst>
              <a:gd fmla="val 24819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62" name="Google Shape;262;p28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b="1" sz="24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3" name="Google Shape;263;p28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64" name="Google Shape;264;p28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b="1" sz="24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5" name="Google Shape;265;p28"/>
          <p:cNvSpPr txBox="1"/>
          <p:nvPr>
            <p:ph idx="12" type="sldNum"/>
          </p:nvPr>
        </p:nvSpPr>
        <p:spPr>
          <a:xfrm>
            <a:off x="-28876" y="6356352"/>
            <a:ext cx="4098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  <p:sp>
        <p:nvSpPr>
          <p:cNvPr id="266" name="Google Shape;266;p28"/>
          <p:cNvSpPr/>
          <p:nvPr>
            <p:ph idx="5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ى ذو تسمية توضيحية">
  <p:cSld name="محتوى ذو تسمية توضيحية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/>
          <p:nvPr>
            <p:ph type="title"/>
          </p:nvPr>
        </p:nvSpPr>
        <p:spPr>
          <a:xfrm>
            <a:off x="839788" y="457200"/>
            <a:ext cx="3932237" cy="16002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560"/>
              <a:buNone/>
              <a:def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b="1" sz="24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20" lvl="2" marL="13716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sz="2400"/>
            </a:lvl3pPr>
            <a:lvl4pPr indent="-330200" lvl="3" marL="18288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4pPr>
            <a:lvl5pPr indent="-330200" lvl="4" marL="22860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5pPr>
            <a:lvl6pPr indent="-330200" lvl="5" marL="2743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6pPr>
            <a:lvl7pPr indent="-330200" lvl="6" marL="32004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7pPr>
            <a:lvl8pPr indent="-330200" lvl="7" marL="36576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8pPr>
            <a:lvl9pPr indent="-330200" lvl="8" marL="41148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9pPr>
          </a:lstStyle>
          <a:p/>
        </p:txBody>
      </p:sp>
      <p:sp>
        <p:nvSpPr>
          <p:cNvPr id="270" name="Google Shape;270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271" name="Google Shape;271;p29"/>
          <p:cNvSpPr txBox="1"/>
          <p:nvPr>
            <p:ph idx="12" type="sldNum"/>
          </p:nvPr>
        </p:nvSpPr>
        <p:spPr>
          <a:xfrm>
            <a:off x="9625" y="6356352"/>
            <a:ext cx="371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  <p:sp>
        <p:nvSpPr>
          <p:cNvPr id="272" name="Google Shape;272;p29"/>
          <p:cNvSpPr/>
          <p:nvPr>
            <p:ph idx="3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عنوانان ومحتوى">
  <p:cSld name="1_عنوانان ومحتوى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/>
          <p:nvPr>
            <p:ph idx="12" type="sldNum"/>
          </p:nvPr>
        </p:nvSpPr>
        <p:spPr>
          <a:xfrm>
            <a:off x="-96253" y="6359395"/>
            <a:ext cx="4772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  <p:sp>
        <p:nvSpPr>
          <p:cNvPr id="275" name="Google Shape;275;p30"/>
          <p:cNvSpPr txBox="1"/>
          <p:nvPr>
            <p:ph idx="1" type="body"/>
          </p:nvPr>
        </p:nvSpPr>
        <p:spPr>
          <a:xfrm>
            <a:off x="1630392" y="1079143"/>
            <a:ext cx="9040483" cy="60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80"/>
              <a:buNone/>
              <a:defRPr b="0" sz="26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76" name="Google Shape;276;p30"/>
          <p:cNvSpPr/>
          <p:nvPr>
            <p:ph type="title"/>
          </p:nvPr>
        </p:nvSpPr>
        <p:spPr>
          <a:xfrm>
            <a:off x="1630392" y="365126"/>
            <a:ext cx="9040483" cy="68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2" type="body"/>
          </p:nvPr>
        </p:nvSpPr>
        <p:spPr>
          <a:xfrm>
            <a:off x="838200" y="1751315"/>
            <a:ext cx="1051560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  <a:defRPr b="1" sz="40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Noto Sans Symbols"/>
              <a:buChar char="❖"/>
              <a:defRPr sz="3800">
                <a:solidFill>
                  <a:schemeClr val="dk1"/>
                </a:solidFill>
              </a:defRPr>
            </a:lvl3pPr>
            <a:lvl4pPr indent="-421640" lvl="3" marL="18288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040"/>
              <a:buChar char="►"/>
              <a:defRPr sz="3800"/>
            </a:lvl4pPr>
            <a:lvl5pPr indent="-421640" lvl="4" marL="22860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040"/>
              <a:buChar char="►"/>
              <a:defRPr sz="3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8576" y="6105526"/>
            <a:ext cx="439572" cy="43957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/>
          <p:nvPr>
            <p:ph idx="3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8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8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" name="Google Shape;19;p8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" name="Google Shape;20;p8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" name="Google Shape;24;p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6" y="23246"/>
            <a:ext cx="1219200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"/>
          <p:cNvSpPr/>
          <p:nvPr/>
        </p:nvSpPr>
        <p:spPr>
          <a:xfrm>
            <a:off x="2444203" y="2967335"/>
            <a:ext cx="7303602" cy="923330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EG" sz="5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مقدمة القواعد والخليفة المحسن</a:t>
            </a:r>
            <a:endParaRPr b="1" i="0" sz="5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/>
          <p:nvPr/>
        </p:nvSpPr>
        <p:spPr>
          <a:xfrm>
            <a:off x="3754315" y="1477080"/>
            <a:ext cx="73421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EG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إذا انضبطت قواعد فقهك، استقامت موازين خلافتك في الأرض</a:t>
            </a:r>
            <a:endParaRPr/>
          </a:p>
        </p:txBody>
      </p:sp>
      <p:sp>
        <p:nvSpPr>
          <p:cNvPr id="296" name="Google Shape;296;p3"/>
          <p:cNvSpPr/>
          <p:nvPr/>
        </p:nvSpPr>
        <p:spPr>
          <a:xfrm>
            <a:off x="1151354" y="2292490"/>
            <a:ext cx="10392945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القواعد الفقهية:</a:t>
            </a:r>
            <a:r>
              <a:rPr b="0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هي الموازين الكلية التي تنظم شتات المسائل.</a:t>
            </a:r>
            <a:endParaRPr/>
          </a:p>
          <a:p>
            <a:pPr indent="-11430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خليفة الله:</a:t>
            </a:r>
            <a:r>
              <a:rPr b="0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هو الإنسان المستأمن على عمارة الأرض بالحق والعدل.</a:t>
            </a:r>
            <a:endParaRPr/>
          </a:p>
          <a:p>
            <a:pPr indent="-11430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الرابط </a:t>
            </a:r>
            <a:r>
              <a:rPr b="1" lang="ar-EG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بينهما</a:t>
            </a:r>
            <a:r>
              <a:rPr b="1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القاعدة الفقهية هي "كتيب التشغيل" (Manual) الذي وضعه الشارع لضمان نجاح مشروع الخلافة دون طغيان أو إفساد.</a:t>
            </a:r>
            <a:endParaRPr/>
          </a:p>
        </p:txBody>
      </p:sp>
      <p:sp>
        <p:nvSpPr>
          <p:cNvPr id="297" name="Google Shape;297;p3"/>
          <p:cNvSpPr/>
          <p:nvPr/>
        </p:nvSpPr>
        <p:spPr>
          <a:xfrm>
            <a:off x="562707" y="3459704"/>
            <a:ext cx="1098159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الفقه</a:t>
            </a:r>
            <a:r>
              <a:rPr b="1" lang="ar-EG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يُعلمك كيف لا تسقط، </a:t>
            </a:r>
            <a:endParaRPr b="1"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و</a:t>
            </a:r>
            <a:r>
              <a:rPr b="1" lang="ar-EG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الإحسان</a:t>
            </a:r>
            <a:r>
              <a:rPr b="1" lang="ar-EG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يُعلمك كيف تسمو وتعلو ( قل تعالوا ). </a:t>
            </a:r>
            <a:endParaRPr/>
          </a:p>
          <a:p>
            <a:pPr indent="0" lvl="0" marL="0" marR="0" rtl="1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فالقاعدة الفقهية </a:t>
            </a:r>
            <a:r>
              <a:rPr b="1" lang="ar-EG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هي الحد الأدنى من النجاة، أما الإحسان فهو الحد الأعلى من القرب. </a:t>
            </a:r>
            <a:endParaRPr b="1"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الخليفة</a:t>
            </a:r>
            <a:r>
              <a:rPr b="1" lang="ar-EG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الحقيقي هو من يحكم بالقاعدة، ويتصرف بالإحسان في كل حياته </a:t>
            </a:r>
            <a:endParaRPr b="1"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mohammedaameri.com/public/image/alboum/1727243506Image_80.jpg" id="302" name="Google Shape;3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975" y="1527785"/>
            <a:ext cx="7686675" cy="272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5"/>
          <p:cNvGrpSpPr/>
          <p:nvPr/>
        </p:nvGrpSpPr>
        <p:grpSpPr>
          <a:xfrm>
            <a:off x="3444270" y="790108"/>
            <a:ext cx="5303458" cy="5277493"/>
            <a:chOff x="1412270" y="70442"/>
            <a:chExt cx="5303458" cy="5277493"/>
          </a:xfrm>
        </p:grpSpPr>
        <p:sp>
          <p:nvSpPr>
            <p:cNvPr id="308" name="Google Shape;308;p5"/>
            <p:cNvSpPr/>
            <p:nvPr/>
          </p:nvSpPr>
          <p:spPr>
            <a:xfrm>
              <a:off x="1881902" y="352213"/>
              <a:ext cx="4551680" cy="4551680"/>
            </a:xfrm>
            <a:prstGeom prst="pie">
              <a:avLst>
                <a:gd fmla="val 16200000" name="adj1"/>
                <a:gd fmla="val 1800000" name="adj2"/>
              </a:avLst>
            </a:prstGeom>
            <a:solidFill>
              <a:srgbClr val="B20F64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"/>
            <p:cNvSpPr txBox="1"/>
            <p:nvPr/>
          </p:nvSpPr>
          <p:spPr>
            <a:xfrm>
              <a:off x="4280746" y="1316736"/>
              <a:ext cx="1625600" cy="135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EG" sz="4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الإحسان</a:t>
              </a:r>
              <a:endParaRPr sz="4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1788159" y="514773"/>
              <a:ext cx="4551680" cy="4551680"/>
            </a:xfrm>
            <a:prstGeom prst="pie">
              <a:avLst>
                <a:gd fmla="val 1800000" name="adj1"/>
                <a:gd fmla="val 9000000" name="adj2"/>
              </a:avLst>
            </a:prstGeom>
            <a:solidFill>
              <a:srgbClr val="B20F64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 txBox="1"/>
            <p:nvPr/>
          </p:nvSpPr>
          <p:spPr>
            <a:xfrm>
              <a:off x="2871893" y="3467946"/>
              <a:ext cx="2438400" cy="1192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EG" sz="4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قواعد فقهية</a:t>
              </a:r>
              <a:endParaRPr sz="4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1694416" y="352213"/>
              <a:ext cx="4551680" cy="4551680"/>
            </a:xfrm>
            <a:prstGeom prst="pie">
              <a:avLst>
                <a:gd fmla="val 9000000" name="adj1"/>
                <a:gd fmla="val 16200000" name="adj2"/>
              </a:avLst>
            </a:prstGeom>
            <a:solidFill>
              <a:srgbClr val="B20F64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 txBox="1"/>
            <p:nvPr/>
          </p:nvSpPr>
          <p:spPr>
            <a:xfrm>
              <a:off x="2221653" y="1316736"/>
              <a:ext cx="1625600" cy="135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EG" sz="4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الخليفة</a:t>
              </a:r>
              <a:endParaRPr sz="4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1600507" y="70442"/>
              <a:ext cx="5115221" cy="5115221"/>
            </a:xfrm>
            <a:custGeom>
              <a:rect b="b" l="l" r="r" t="t"/>
              <a:pathLst>
                <a:path extrusionOk="0" h="120000" w="120000">
                  <a:moveTo>
                    <a:pt x="59991" y="4067"/>
                  </a:moveTo>
                  <a:cubicBezTo>
                    <a:pt x="79078" y="4064"/>
                    <a:pt x="96849" y="13795"/>
                    <a:pt x="107129" y="29878"/>
                  </a:cubicBezTo>
                  <a:cubicBezTo>
                    <a:pt x="117408" y="45960"/>
                    <a:pt x="118776" y="66175"/>
                    <a:pt x="110758" y="83496"/>
                  </a:cubicBezTo>
                  <a:lnTo>
                    <a:pt x="114269" y="85523"/>
                  </a:lnTo>
                  <a:lnTo>
                    <a:pt x="105797" y="86441"/>
                  </a:lnTo>
                  <a:lnTo>
                    <a:pt x="101940" y="78405"/>
                  </a:lnTo>
                  <a:lnTo>
                    <a:pt x="105449" y="80431"/>
                  </a:lnTo>
                  <a:cubicBezTo>
                    <a:pt x="112382" y="65011"/>
                    <a:pt x="111022" y="47127"/>
                    <a:pt x="101838" y="32932"/>
                  </a:cubicBezTo>
                  <a:cubicBezTo>
                    <a:pt x="92654" y="18737"/>
                    <a:pt x="76899" y="10167"/>
                    <a:pt x="59992" y="10169"/>
                  </a:cubicBezTo>
                  <a:close/>
                </a:path>
              </a:pathLst>
            </a:custGeom>
            <a:solidFill>
              <a:srgbClr val="D5A8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1506389" y="232714"/>
              <a:ext cx="5115221" cy="5115221"/>
            </a:xfrm>
            <a:custGeom>
              <a:rect b="b" l="l" r="r" t="t"/>
              <a:pathLst>
                <a:path extrusionOk="0" h="120000" w="120000">
                  <a:moveTo>
                    <a:pt x="108435" y="87973"/>
                  </a:moveTo>
                  <a:cubicBezTo>
                    <a:pt x="98891" y="104498"/>
                    <a:pt x="81581" y="115017"/>
                    <a:pt x="62518" y="115876"/>
                  </a:cubicBezTo>
                  <a:cubicBezTo>
                    <a:pt x="43454" y="116735"/>
                    <a:pt x="25269" y="107816"/>
                    <a:pt x="14277" y="92216"/>
                  </a:cubicBezTo>
                  <a:lnTo>
                    <a:pt x="10766" y="94244"/>
                  </a:lnTo>
                  <a:lnTo>
                    <a:pt x="14207" y="86447"/>
                  </a:lnTo>
                  <a:lnTo>
                    <a:pt x="23095" y="87124"/>
                  </a:lnTo>
                  <a:lnTo>
                    <a:pt x="19585" y="89151"/>
                  </a:lnTo>
                  <a:cubicBezTo>
                    <a:pt x="29474" y="102860"/>
                    <a:pt x="45637" y="110621"/>
                    <a:pt x="62519" y="109767"/>
                  </a:cubicBezTo>
                  <a:cubicBezTo>
                    <a:pt x="79400" y="108913"/>
                    <a:pt x="94697" y="99559"/>
                    <a:pt x="103151" y="84922"/>
                  </a:cubicBezTo>
                  <a:close/>
                </a:path>
              </a:pathLst>
            </a:custGeom>
            <a:solidFill>
              <a:srgbClr val="D5A8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1412270" y="70442"/>
              <a:ext cx="5115221" cy="5115221"/>
            </a:xfrm>
            <a:custGeom>
              <a:rect b="b" l="l" r="r" t="t"/>
              <a:pathLst>
                <a:path extrusionOk="0" h="120000" w="120000">
                  <a:moveTo>
                    <a:pt x="11561" y="87966"/>
                  </a:moveTo>
                  <a:cubicBezTo>
                    <a:pt x="2017" y="71436"/>
                    <a:pt x="1562" y="51181"/>
                    <a:pt x="10353" y="34238"/>
                  </a:cubicBezTo>
                  <a:cubicBezTo>
                    <a:pt x="19144" y="17296"/>
                    <a:pt x="35968" y="6007"/>
                    <a:pt x="54979" y="4293"/>
                  </a:cubicBezTo>
                  <a:lnTo>
                    <a:pt x="54979" y="239"/>
                  </a:lnTo>
                  <a:lnTo>
                    <a:pt x="60009" y="7118"/>
                  </a:lnTo>
                  <a:lnTo>
                    <a:pt x="54977" y="14476"/>
                  </a:lnTo>
                  <a:lnTo>
                    <a:pt x="54978" y="10423"/>
                  </a:lnTo>
                  <a:cubicBezTo>
                    <a:pt x="38157" y="12127"/>
                    <a:pt x="23347" y="22244"/>
                    <a:pt x="15643" y="37294"/>
                  </a:cubicBezTo>
                  <a:cubicBezTo>
                    <a:pt x="7939" y="52344"/>
                    <a:pt x="8392" y="70273"/>
                    <a:pt x="16845" y="84915"/>
                  </a:cubicBezTo>
                  <a:close/>
                </a:path>
              </a:pathLst>
            </a:custGeom>
            <a:solidFill>
              <a:srgbClr val="D5A8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5"/>
          <p:cNvSpPr/>
          <p:nvPr/>
        </p:nvSpPr>
        <p:spPr>
          <a:xfrm>
            <a:off x="3429000" y="87923"/>
            <a:ext cx="45719" cy="4571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rnd" cmpd="sng" w="19050">
            <a:solidFill>
              <a:srgbClr val="820C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1081452" y="844061"/>
            <a:ext cx="2708031" cy="16881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المخرجات</a:t>
            </a:r>
            <a:endParaRPr b="1"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1943099" y="5055577"/>
            <a:ext cx="2382715" cy="1485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rnd" cmpd="sng" w="19050">
            <a:solidFill>
              <a:srgbClr val="714E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المدخلات</a:t>
            </a:r>
            <a:endParaRPr b="1" sz="4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p5"/>
          <p:cNvSpPr/>
          <p:nvPr/>
        </p:nvSpPr>
        <p:spPr>
          <a:xfrm>
            <a:off x="8575429" y="1453661"/>
            <a:ext cx="2708031" cy="16881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EG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التشغيل</a:t>
            </a:r>
            <a:endParaRPr b="1"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5"/>
          <p:cNvSpPr/>
          <p:nvPr/>
        </p:nvSpPr>
        <p:spPr>
          <a:xfrm>
            <a:off x="7411525" y="5336862"/>
            <a:ext cx="47804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1" i="0" lang="ar-EG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القاعدة الفقهية</a:t>
            </a:r>
            <a:r>
              <a:rPr b="1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(العدل والانضباط) - لضمان عدم الفوضى.</a:t>
            </a:r>
            <a:endParaRPr/>
          </a:p>
          <a:p>
            <a:pPr indent="-11430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1" i="0" lang="ar-EG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الخلافة:</a:t>
            </a:r>
            <a:r>
              <a:rPr b="0" i="0" lang="ar-EG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(المسؤولية والعمارة) - لتحديد الدور والوجهة.</a:t>
            </a:r>
            <a:endParaRPr/>
          </a:p>
          <a:p>
            <a:pPr indent="-11430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1" i="0" lang="ar-EG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الإحسان:</a:t>
            </a:r>
            <a:r>
              <a:rPr b="0" i="0" lang="ar-EG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ar-E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(الجمال والمراقبة) - لضمان جودة العمل وإخلاصه.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"/>
          <p:cNvSpPr/>
          <p:nvPr/>
        </p:nvSpPr>
        <p:spPr>
          <a:xfrm>
            <a:off x="800100" y="1802319"/>
            <a:ext cx="10823331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1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ar-EG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إن "القواعد الفقهية" ليست مجرد نصوص للحفظ، بل هي "بوصلة" لخليفة الله في الأرض. 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1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ar-EG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إذا أردت أن تحقق مراد الله منك، فاجعل (المقصد) دليلك، و(اليقين) حصنك، و(التيسير) خلقك، و(إزالة الضرر) مهمتك، و(العرف المنضبط) لغتك مع الناس.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2022-01-05T23:36:24Z</dcterms:created>
  <dc:creator>Noura Al Zaid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0x01010012CEA1800D3DB44C91F7DEC2F652FD70</vt:lpwstr>
  </property>
  <property fmtid="{D5CDD505-2E9C-101B-9397-08002B2CF9AE}" pid="3" name="Order">
    <vt:r8>1.28868E7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