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Tajawal"/>
      <p:regular r:id="rId25"/>
      <p:bold r:id="rId26"/>
    </p:embeddedFont>
    <p:embeddedFont>
      <p:font typeface="Century Gothic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h8PPPle5cm84+DzFoZKGt6BhkM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Tajawal-bold.fntdata"/><Relationship Id="rId25" Type="http://schemas.openxmlformats.org/officeDocument/2006/relationships/font" Target="fonts/Tajawal-regular.fntdata"/><Relationship Id="rId28" Type="http://schemas.openxmlformats.org/officeDocument/2006/relationships/font" Target="fonts/CenturyGothic-bold.fntdata"/><Relationship Id="rId27" Type="http://schemas.openxmlformats.org/officeDocument/2006/relationships/font" Target="fonts/CenturyGothic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Gothic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CenturyGothic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S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عنوان ومحتوى">
  <p:cSld name="عنوان ومحتوى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/>
        </p:nvSpPr>
        <p:spPr>
          <a:xfrm>
            <a:off x="-203324" y="6379281"/>
            <a:ext cx="7425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ar-SA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i="0" sz="30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838200" y="1690448"/>
            <a:ext cx="1051560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  <a:defRPr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0840" lvl="1" marL="91440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40"/>
              <a:buFont typeface="Noto Sans Symbols"/>
              <a:buChar char="▪"/>
              <a:defRPr sz="3200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❖"/>
              <a:defRPr sz="3200">
                <a:solidFill>
                  <a:srgbClr val="22B8C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1160" lvl="3" marL="182880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560"/>
              <a:buChar char="►"/>
              <a:defRPr sz="3200">
                <a:latin typeface="Arial"/>
                <a:ea typeface="Arial"/>
                <a:cs typeface="Arial"/>
                <a:sym typeface="Arial"/>
              </a:defRPr>
            </a:lvl4pPr>
            <a:lvl5pPr indent="-391160" lvl="4" marL="228600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560"/>
              <a:buChar char="►"/>
              <a:defRPr sz="3200">
                <a:latin typeface="Arial"/>
                <a:ea typeface="Arial"/>
                <a:cs typeface="Arial"/>
                <a:sym typeface="Arial"/>
              </a:defRPr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0" name="Google Shape;40;p23"/>
          <p:cNvSpPr/>
          <p:nvPr>
            <p:ph idx="2" type="body"/>
          </p:nvPr>
        </p:nvSpPr>
        <p:spPr>
          <a:xfrm>
            <a:off x="3936000" y="6247608"/>
            <a:ext cx="4320000" cy="360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0" sz="1800">
                <a:solidFill>
                  <a:srgbClr val="616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2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3" name="Google Shape;43;p2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4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45" name="Google Shape;45;p24"/>
          <p:cNvSpPr txBox="1"/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rgbClr val="EE52A4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 rot="5400000">
            <a:off x="10158984" y="1792224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 rot="5400000">
            <a:off x="8951976" y="3227832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2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9" name="Google Shape;59;p2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6"/>
            <p:cNvSpPr/>
            <p:nvPr/>
          </p:nvSpPr>
          <p:spPr>
            <a:xfrm rot="-5400000">
              <a:off x="3787244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67" name="Google Shape;67;p26"/>
            <p:cNvSpPr/>
            <p:nvPr/>
          </p:nvSpPr>
          <p:spPr>
            <a:xfrm rot="-5677511">
              <a:off x="4698352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6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69" name="Google Shape;69;p26"/>
          <p:cNvSpPr txBox="1"/>
          <p:nvPr>
            <p:ph type="title"/>
          </p:nvPr>
        </p:nvSpPr>
        <p:spPr>
          <a:xfrm>
            <a:off x="1154954" y="2677645"/>
            <a:ext cx="4351025" cy="2283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>
            <a:off x="6895559" y="2677644"/>
            <a:ext cx="3757545" cy="2283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" type="body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2" type="body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8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" type="body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85" name="Google Shape;85;p28"/>
          <p:cNvSpPr txBox="1"/>
          <p:nvPr>
            <p:ph idx="2" type="body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3" type="body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87" name="Google Shape;87;p28"/>
          <p:cNvSpPr txBox="1"/>
          <p:nvPr>
            <p:ph idx="4" type="body"/>
          </p:nvPr>
        </p:nvSpPr>
        <p:spPr>
          <a:xfrm>
            <a:off x="6208712" y="3179762"/>
            <a:ext cx="4825159" cy="284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88" name="Google Shape;88;p28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8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3" name="Google Shape;93;p2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9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9"/>
            <p:cNvSpPr/>
            <p:nvPr/>
          </p:nvSpPr>
          <p:spPr>
            <a:xfrm rot="-5677511">
              <a:off x="3140485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9"/>
            <p:cNvSpPr/>
            <p:nvPr/>
          </p:nvSpPr>
          <p:spPr>
            <a:xfrm rot="-5400000">
              <a:off x="2229377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02" name="Google Shape;102;p29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03" name="Google Shape;103;p29"/>
          <p:cNvSpPr txBox="1"/>
          <p:nvPr>
            <p:ph type="title"/>
          </p:nvPr>
        </p:nvSpPr>
        <p:spPr>
          <a:xfrm>
            <a:off x="1154955" y="1295400"/>
            <a:ext cx="279315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9"/>
          <p:cNvSpPr txBox="1"/>
          <p:nvPr>
            <p:ph idx="1" type="body"/>
          </p:nvPr>
        </p:nvSpPr>
        <p:spPr>
          <a:xfrm>
            <a:off x="5781146" y="1447800"/>
            <a:ext cx="519006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5" name="Google Shape;105;p29"/>
          <p:cNvSpPr txBox="1"/>
          <p:nvPr>
            <p:ph idx="2" type="body"/>
          </p:nvPr>
        </p:nvSpPr>
        <p:spPr>
          <a:xfrm>
            <a:off x="1154954" y="3129280"/>
            <a:ext cx="2793158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29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9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3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2" name="Google Shape;112;p3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0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0"/>
            <p:cNvSpPr/>
            <p:nvPr/>
          </p:nvSpPr>
          <p:spPr>
            <a:xfrm rot="-5677511">
              <a:off x="4203594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0"/>
            <p:cNvSpPr/>
            <p:nvPr/>
          </p:nvSpPr>
          <p:spPr>
            <a:xfrm rot="-5400000">
              <a:off x="3295432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21" name="Google Shape;121;p30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22" name="Google Shape;122;p30"/>
          <p:cNvSpPr txBox="1"/>
          <p:nvPr>
            <p:ph type="title"/>
          </p:nvPr>
        </p:nvSpPr>
        <p:spPr>
          <a:xfrm>
            <a:off x="1154955" y="1693333"/>
            <a:ext cx="3865134" cy="17356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0"/>
          <p:cNvSpPr/>
          <p:nvPr>
            <p:ph idx="2" type="pic"/>
          </p:nvPr>
        </p:nvSpPr>
        <p:spPr>
          <a:xfrm>
            <a:off x="6547870" y="1143000"/>
            <a:ext cx="3227193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24" name="Google Shape;124;p30"/>
          <p:cNvSpPr txBox="1"/>
          <p:nvPr>
            <p:ph idx="1" type="body"/>
          </p:nvPr>
        </p:nvSpPr>
        <p:spPr>
          <a:xfrm>
            <a:off x="1154954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5" name="Google Shape;125;p30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3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1" name="Google Shape;131;p3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1"/>
            <p:cNvSpPr/>
            <p:nvPr/>
          </p:nvSpPr>
          <p:spPr>
            <a:xfrm rot="10371525">
              <a:off x="263767" y="4438254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1"/>
            <p:cNvSpPr/>
            <p:nvPr/>
          </p:nvSpPr>
          <p:spPr>
            <a:xfrm rot="10800000">
              <a:off x="459506" y="321130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39" name="Google Shape;139;p31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40" name="Google Shape;140;p31"/>
          <p:cNvSpPr txBox="1"/>
          <p:nvPr>
            <p:ph type="title"/>
          </p:nvPr>
        </p:nvSpPr>
        <p:spPr>
          <a:xfrm>
            <a:off x="1154954" y="4969927"/>
            <a:ext cx="8825659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1"/>
          <p:cNvSpPr/>
          <p:nvPr>
            <p:ph idx="2" type="pic"/>
          </p:nvPr>
        </p:nvSpPr>
        <p:spPr>
          <a:xfrm>
            <a:off x="1154954" y="685800"/>
            <a:ext cx="8825659" cy="3429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42" name="Google Shape;142;p31"/>
          <p:cNvSpPr txBox="1"/>
          <p:nvPr>
            <p:ph idx="1" type="body"/>
          </p:nvPr>
        </p:nvSpPr>
        <p:spPr>
          <a:xfrm>
            <a:off x="1154954" y="5536665"/>
            <a:ext cx="8825658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43" name="Google Shape;143;p31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1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 showMasterSp="0">
  <p:cSld name="Title and Caption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3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9" name="Google Shape;149;p3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2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2"/>
            <p:cNvSpPr/>
            <p:nvPr/>
          </p:nvSpPr>
          <p:spPr>
            <a:xfrm rot="-589932">
              <a:off x="8490951" y="2714874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2"/>
            <p:cNvSpPr/>
            <p:nvPr/>
          </p:nvSpPr>
          <p:spPr>
            <a:xfrm>
              <a:off x="455612" y="2801319"/>
              <a:ext cx="11277600" cy="3602637"/>
            </a:xfrm>
            <a:custGeom>
              <a:rect b="b" l="l" r="r" t="t"/>
              <a:pathLst>
                <a:path extrusionOk="0" h="7946" w="1000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57" name="Google Shape;157;p32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58" name="Google Shape;158;p32"/>
          <p:cNvSpPr txBox="1"/>
          <p:nvPr>
            <p:ph type="title"/>
          </p:nvPr>
        </p:nvSpPr>
        <p:spPr>
          <a:xfrm>
            <a:off x="1148798" y="1063417"/>
            <a:ext cx="8831816" cy="1372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1154954" y="3543300"/>
            <a:ext cx="8825659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60" name="Google Shape;160;p32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2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 showMasterSp="0">
  <p:cSld name="Quote with Caption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3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6" name="Google Shape;166;p3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3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33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33"/>
            <p:cNvSpPr/>
            <p:nvPr/>
          </p:nvSpPr>
          <p:spPr>
            <a:xfrm rot="-589932">
              <a:off x="8490951" y="41851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3"/>
            <p:cNvSpPr/>
            <p:nvPr/>
          </p:nvSpPr>
          <p:spPr>
            <a:xfrm>
              <a:off x="455612" y="4241801"/>
              <a:ext cx="11277600" cy="2337161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74" name="Google Shape;174;p33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75" name="Google Shape;175;p33"/>
          <p:cNvSpPr txBox="1"/>
          <p:nvPr/>
        </p:nvSpPr>
        <p:spPr>
          <a:xfrm>
            <a:off x="881566" y="607336"/>
            <a:ext cx="80191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9600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76" name="Google Shape;176;p33"/>
          <p:cNvSpPr txBox="1"/>
          <p:nvPr/>
        </p:nvSpPr>
        <p:spPr>
          <a:xfrm>
            <a:off x="9884458" y="2613787"/>
            <a:ext cx="65276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9600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77" name="Google Shape;177;p33"/>
          <p:cNvSpPr txBox="1"/>
          <p:nvPr>
            <p:ph type="title"/>
          </p:nvPr>
        </p:nvSpPr>
        <p:spPr>
          <a:xfrm>
            <a:off x="1581878" y="982134"/>
            <a:ext cx="8453906" cy="2696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1945945" y="3678766"/>
            <a:ext cx="773121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79" name="Google Shape;179;p33"/>
          <p:cNvSpPr txBox="1"/>
          <p:nvPr>
            <p:ph idx="2" type="body"/>
          </p:nvPr>
        </p:nvSpPr>
        <p:spPr>
          <a:xfrm>
            <a:off x="1154954" y="5029199"/>
            <a:ext cx="9244897" cy="997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80" name="Google Shape;180;p33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3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 showMasterSp="0">
  <p:cSld name="Name Card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3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86" name="Google Shape;186;p3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3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34"/>
            <p:cNvSpPr/>
            <p:nvPr/>
          </p:nvSpPr>
          <p:spPr>
            <a:xfrm rot="-589932">
              <a:off x="8490951" y="4193583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4"/>
            <p:cNvSpPr/>
            <p:nvPr/>
          </p:nvSpPr>
          <p:spPr>
            <a:xfrm>
              <a:off x="455612" y="4241801"/>
              <a:ext cx="11277600" cy="2337161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94" name="Google Shape;194;p34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95" name="Google Shape;195;p34"/>
          <p:cNvSpPr txBox="1"/>
          <p:nvPr>
            <p:ph type="title"/>
          </p:nvPr>
        </p:nvSpPr>
        <p:spPr>
          <a:xfrm>
            <a:off x="1154954" y="2370667"/>
            <a:ext cx="8825660" cy="18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4"/>
          <p:cNvSpPr txBox="1"/>
          <p:nvPr>
            <p:ph idx="1" type="body"/>
          </p:nvPr>
        </p:nvSpPr>
        <p:spPr>
          <a:xfrm>
            <a:off x="1154954" y="5024967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7" name="Google Shape;197;p34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4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5"/>
          <p:cNvSpPr txBox="1"/>
          <p:nvPr>
            <p:ph idx="1" type="body"/>
          </p:nvPr>
        </p:nvSpPr>
        <p:spPr>
          <a:xfrm>
            <a:off x="1154954" y="2603502"/>
            <a:ext cx="314187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04" name="Google Shape;204;p35"/>
          <p:cNvSpPr txBox="1"/>
          <p:nvPr>
            <p:ph idx="2" type="body"/>
          </p:nvPr>
        </p:nvSpPr>
        <p:spPr>
          <a:xfrm>
            <a:off x="1154953" y="3179764"/>
            <a:ext cx="3141879" cy="284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05" name="Google Shape;205;p35"/>
          <p:cNvSpPr txBox="1"/>
          <p:nvPr>
            <p:ph idx="3" type="body"/>
          </p:nvPr>
        </p:nvSpPr>
        <p:spPr>
          <a:xfrm>
            <a:off x="4512721" y="2603500"/>
            <a:ext cx="31470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06" name="Google Shape;206;p35"/>
          <p:cNvSpPr txBox="1"/>
          <p:nvPr>
            <p:ph idx="4" type="body"/>
          </p:nvPr>
        </p:nvSpPr>
        <p:spPr>
          <a:xfrm>
            <a:off x="4512721" y="3179763"/>
            <a:ext cx="3147009" cy="284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07" name="Google Shape;207;p35"/>
          <p:cNvSpPr txBox="1"/>
          <p:nvPr>
            <p:ph idx="5" type="body"/>
          </p:nvPr>
        </p:nvSpPr>
        <p:spPr>
          <a:xfrm>
            <a:off x="7888135" y="2603501"/>
            <a:ext cx="314573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08" name="Google Shape;208;p35"/>
          <p:cNvSpPr txBox="1"/>
          <p:nvPr>
            <p:ph idx="6" type="body"/>
          </p:nvPr>
        </p:nvSpPr>
        <p:spPr>
          <a:xfrm>
            <a:off x="7888329" y="3179762"/>
            <a:ext cx="3145536" cy="284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09" name="Google Shape;209;p35"/>
          <p:cNvCxnSpPr/>
          <p:nvPr/>
        </p:nvCxnSpPr>
        <p:spPr>
          <a:xfrm>
            <a:off x="440397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35"/>
          <p:cNvCxnSpPr/>
          <p:nvPr/>
        </p:nvCxnSpPr>
        <p:spPr>
          <a:xfrm>
            <a:off x="777240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35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5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1154954" y="4532844"/>
            <a:ext cx="30504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7" name="Google Shape;217;p36"/>
          <p:cNvSpPr/>
          <p:nvPr>
            <p:ph idx="2" type="pic"/>
          </p:nvPr>
        </p:nvSpPr>
        <p:spPr>
          <a:xfrm>
            <a:off x="1334553" y="2603500"/>
            <a:ext cx="2691242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218" name="Google Shape;218;p36"/>
          <p:cNvSpPr txBox="1"/>
          <p:nvPr>
            <p:ph idx="3" type="body"/>
          </p:nvPr>
        </p:nvSpPr>
        <p:spPr>
          <a:xfrm>
            <a:off x="1154954" y="5109106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19" name="Google Shape;219;p36"/>
          <p:cNvSpPr txBox="1"/>
          <p:nvPr>
            <p:ph idx="4" type="body"/>
          </p:nvPr>
        </p:nvSpPr>
        <p:spPr>
          <a:xfrm>
            <a:off x="4568865" y="4532844"/>
            <a:ext cx="3050438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20" name="Google Shape;220;p36"/>
          <p:cNvSpPr/>
          <p:nvPr>
            <p:ph idx="5" type="pic"/>
          </p:nvPr>
        </p:nvSpPr>
        <p:spPr>
          <a:xfrm>
            <a:off x="4748462" y="2603500"/>
            <a:ext cx="2691243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221" name="Google Shape;221;p36"/>
          <p:cNvSpPr txBox="1"/>
          <p:nvPr>
            <p:ph idx="6" type="body"/>
          </p:nvPr>
        </p:nvSpPr>
        <p:spPr>
          <a:xfrm>
            <a:off x="4570172" y="5109105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22" name="Google Shape;222;p36"/>
          <p:cNvSpPr txBox="1"/>
          <p:nvPr>
            <p:ph idx="7" type="body"/>
          </p:nvPr>
        </p:nvSpPr>
        <p:spPr>
          <a:xfrm>
            <a:off x="7982775" y="4532845"/>
            <a:ext cx="305109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23" name="Google Shape;223;p36"/>
          <p:cNvSpPr/>
          <p:nvPr>
            <p:ph idx="8" type="pic"/>
          </p:nvPr>
        </p:nvSpPr>
        <p:spPr>
          <a:xfrm>
            <a:off x="8163031" y="2603500"/>
            <a:ext cx="2691242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224" name="Google Shape;224;p36"/>
          <p:cNvSpPr txBox="1"/>
          <p:nvPr>
            <p:ph idx="9" type="body"/>
          </p:nvPr>
        </p:nvSpPr>
        <p:spPr>
          <a:xfrm>
            <a:off x="7982775" y="5109104"/>
            <a:ext cx="3051096" cy="91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25" name="Google Shape;225;p36"/>
          <p:cNvCxnSpPr/>
          <p:nvPr/>
        </p:nvCxnSpPr>
        <p:spPr>
          <a:xfrm>
            <a:off x="440583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36"/>
          <p:cNvCxnSpPr/>
          <p:nvPr/>
        </p:nvCxnSpPr>
        <p:spPr>
          <a:xfrm>
            <a:off x="7797802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36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6"/>
          <p:cNvSpPr txBox="1"/>
          <p:nvPr>
            <p:ph idx="11" type="ftr"/>
          </p:nvPr>
        </p:nvSpPr>
        <p:spPr>
          <a:xfrm>
            <a:off x="561111" y="6391838"/>
            <a:ext cx="3644282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7"/>
          <p:cNvSpPr txBox="1"/>
          <p:nvPr>
            <p:ph idx="1" type="body"/>
          </p:nvPr>
        </p:nvSpPr>
        <p:spPr>
          <a:xfrm rot="5400000">
            <a:off x="3859634" y="-101179"/>
            <a:ext cx="3416300" cy="8825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33" name="Google Shape;233;p37"/>
          <p:cNvSpPr txBox="1"/>
          <p:nvPr>
            <p:ph idx="10" type="dt"/>
          </p:nvPr>
        </p:nvSpPr>
        <p:spPr>
          <a:xfrm>
            <a:off x="10695439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7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3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8" name="Google Shape;238;p3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8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8"/>
            <p:cNvSpPr/>
            <p:nvPr/>
          </p:nvSpPr>
          <p:spPr>
            <a:xfrm rot="5101749">
              <a:off x="6294738" y="457773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8"/>
            <p:cNvSpPr/>
            <p:nvPr/>
          </p:nvSpPr>
          <p:spPr>
            <a:xfrm rot="5400000">
              <a:off x="4449232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47" name="Google Shape;247;p38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48" name="Google Shape;248;p38"/>
          <p:cNvSpPr txBox="1"/>
          <p:nvPr>
            <p:ph type="title"/>
          </p:nvPr>
        </p:nvSpPr>
        <p:spPr>
          <a:xfrm rot="5400000">
            <a:off x="6915923" y="2947780"/>
            <a:ext cx="4748590" cy="14099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38"/>
          <p:cNvSpPr txBox="1"/>
          <p:nvPr>
            <p:ph idx="1" type="body"/>
          </p:nvPr>
        </p:nvSpPr>
        <p:spPr>
          <a:xfrm rot="5400000">
            <a:off x="1908672" y="524749"/>
            <a:ext cx="4748590" cy="6256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50" name="Google Shape;250;p38"/>
          <p:cNvSpPr txBox="1"/>
          <p:nvPr>
            <p:ph idx="10" type="dt"/>
          </p:nvPr>
        </p:nvSpPr>
        <p:spPr>
          <a:xfrm>
            <a:off x="10653104" y="6391838"/>
            <a:ext cx="992135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8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عنوان وجدول وشرح">
  <p:cSld name="عنوان وجدول وشرح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/>
          <p:nvPr>
            <p:ph type="title"/>
          </p:nvPr>
        </p:nvSpPr>
        <p:spPr>
          <a:xfrm>
            <a:off x="1549879" y="365127"/>
            <a:ext cx="9092242" cy="132556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9"/>
          <p:cNvSpPr txBox="1"/>
          <p:nvPr/>
        </p:nvSpPr>
        <p:spPr>
          <a:xfrm>
            <a:off x="-203324" y="6379281"/>
            <a:ext cx="7425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ar-SA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" name="Google Shape;257;p39"/>
          <p:cNvSpPr txBox="1"/>
          <p:nvPr>
            <p:ph idx="1" type="body"/>
          </p:nvPr>
        </p:nvSpPr>
        <p:spPr>
          <a:xfrm>
            <a:off x="6204203" y="1919036"/>
            <a:ext cx="5274000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يين">
  <p:cSld name="محتويين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/>
          <p:nvPr>
            <p:ph type="title"/>
          </p:nvPr>
        </p:nvSpPr>
        <p:spPr>
          <a:xfrm>
            <a:off x="1549879" y="365127"/>
            <a:ext cx="9092242" cy="1325563"/>
          </a:xfrm>
          <a:prstGeom prst="round2DiagRect">
            <a:avLst>
              <a:gd fmla="val 24819" name="adj1"/>
              <a:gd fmla="val 0" name="adj2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560"/>
              <a:buNone/>
              <a:def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1160" lvl="1" marL="9144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b="1" sz="3200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1160" lvl="2" marL="13716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sz="3200">
                <a:latin typeface="Arial"/>
                <a:ea typeface="Arial"/>
                <a:cs typeface="Arial"/>
                <a:sym typeface="Arial"/>
              </a:defRPr>
            </a:lvl3pPr>
            <a:lvl4pPr indent="-391160" lvl="3" marL="18288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sz="3200">
                <a:latin typeface="Arial"/>
                <a:ea typeface="Arial"/>
                <a:cs typeface="Arial"/>
                <a:sym typeface="Arial"/>
              </a:defRPr>
            </a:lvl4pPr>
            <a:lvl5pPr indent="-391160" lvl="4" marL="22860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sz="3200">
                <a:latin typeface="Arial"/>
                <a:ea typeface="Arial"/>
                <a:cs typeface="Arial"/>
                <a:sym typeface="Arial"/>
              </a:defRPr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1" name="Google Shape;261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560"/>
              <a:buNone/>
              <a:def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1160" lvl="1" marL="9144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b="1" sz="3200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1160" lvl="2" marL="13716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sz="3200">
                <a:latin typeface="Arial"/>
                <a:ea typeface="Arial"/>
                <a:cs typeface="Arial"/>
                <a:sym typeface="Arial"/>
              </a:defRPr>
            </a:lvl3pPr>
            <a:lvl4pPr indent="-391160" lvl="3" marL="18288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sz="3200">
                <a:latin typeface="Arial"/>
                <a:ea typeface="Arial"/>
                <a:cs typeface="Arial"/>
                <a:sym typeface="Arial"/>
              </a:defRPr>
            </a:lvl4pPr>
            <a:lvl5pPr indent="-391160" lvl="4" marL="2286000" algn="l">
              <a:spcBef>
                <a:spcPts val="1000"/>
              </a:spcBef>
              <a:spcAft>
                <a:spcPts val="0"/>
              </a:spcAft>
              <a:buSzPts val="2560"/>
              <a:buChar char="►"/>
              <a:defRPr sz="3200">
                <a:latin typeface="Arial"/>
                <a:ea typeface="Arial"/>
                <a:cs typeface="Arial"/>
                <a:sym typeface="Arial"/>
              </a:defRPr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2" name="Google Shape;262;p40"/>
          <p:cNvSpPr txBox="1"/>
          <p:nvPr>
            <p:ph idx="12" type="sldNum"/>
          </p:nvPr>
        </p:nvSpPr>
        <p:spPr>
          <a:xfrm>
            <a:off x="-38501" y="6356352"/>
            <a:ext cx="4195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  <p:sp>
        <p:nvSpPr>
          <p:cNvPr id="263" name="Google Shape;263;p40"/>
          <p:cNvSpPr/>
          <p:nvPr>
            <p:ph idx="3" type="body"/>
          </p:nvPr>
        </p:nvSpPr>
        <p:spPr>
          <a:xfrm>
            <a:off x="3936000" y="6247608"/>
            <a:ext cx="4320000" cy="360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0" sz="1800">
                <a:solidFill>
                  <a:srgbClr val="616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">
  <p:cSld name="مقارنة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/>
          <p:nvPr>
            <p:ph type="title"/>
          </p:nvPr>
        </p:nvSpPr>
        <p:spPr>
          <a:xfrm>
            <a:off x="1558506" y="365127"/>
            <a:ext cx="9074989" cy="1325563"/>
          </a:xfrm>
          <a:prstGeom prst="round2DiagRect">
            <a:avLst>
              <a:gd fmla="val 24819" name="adj1"/>
              <a:gd fmla="val 0" name="adj2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1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2240"/>
              <a:buNone/>
              <a:defRPr b="1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67" name="Google Shape;267;p41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240"/>
              <a:buNone/>
              <a:defRPr b="1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20" lvl="1" marL="914400" algn="l">
              <a:spcBef>
                <a:spcPts val="1000"/>
              </a:spcBef>
              <a:spcAft>
                <a:spcPts val="0"/>
              </a:spcAft>
              <a:buSzPts val="1920"/>
              <a:buChar char="►"/>
              <a:defRPr b="1" sz="2400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8" name="Google Shape;268;p41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2240"/>
              <a:buNone/>
              <a:defRPr b="1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69" name="Google Shape;269;p41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240"/>
              <a:buNone/>
              <a:defRPr b="1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20" lvl="1" marL="914400" algn="l">
              <a:spcBef>
                <a:spcPts val="1000"/>
              </a:spcBef>
              <a:spcAft>
                <a:spcPts val="0"/>
              </a:spcAft>
              <a:buSzPts val="1920"/>
              <a:buChar char="►"/>
              <a:defRPr b="1" sz="2400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70" name="Google Shape;270;p41"/>
          <p:cNvSpPr txBox="1"/>
          <p:nvPr>
            <p:ph idx="12" type="sldNum"/>
          </p:nvPr>
        </p:nvSpPr>
        <p:spPr>
          <a:xfrm>
            <a:off x="-28876" y="6356352"/>
            <a:ext cx="4098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  <p:sp>
        <p:nvSpPr>
          <p:cNvPr id="271" name="Google Shape;271;p41"/>
          <p:cNvSpPr/>
          <p:nvPr>
            <p:ph idx="5" type="body"/>
          </p:nvPr>
        </p:nvSpPr>
        <p:spPr>
          <a:xfrm>
            <a:off x="3936000" y="6247608"/>
            <a:ext cx="4320000" cy="360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0" sz="1800">
                <a:solidFill>
                  <a:srgbClr val="616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ى ذو تسمية توضيحية">
  <p:cSld name="محتوى ذو تسمية توضيحية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/>
          <p:nvPr>
            <p:ph type="title"/>
          </p:nvPr>
        </p:nvSpPr>
        <p:spPr>
          <a:xfrm>
            <a:off x="839788" y="457200"/>
            <a:ext cx="3932237" cy="16002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2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560"/>
              <a:buNone/>
              <a:defRPr b="1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20" lvl="1" marL="914400" algn="l">
              <a:spcBef>
                <a:spcPts val="1000"/>
              </a:spcBef>
              <a:spcAft>
                <a:spcPts val="0"/>
              </a:spcAft>
              <a:buSzPts val="1920"/>
              <a:buChar char="►"/>
              <a:defRPr b="1" sz="2400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0520" lvl="2" marL="1371600" algn="l">
              <a:spcBef>
                <a:spcPts val="1000"/>
              </a:spcBef>
              <a:spcAft>
                <a:spcPts val="0"/>
              </a:spcAft>
              <a:buSzPts val="1920"/>
              <a:buChar char="►"/>
              <a:defRPr sz="2400"/>
            </a:lvl3pPr>
            <a:lvl4pPr indent="-330200" lvl="3" marL="18288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4pPr>
            <a:lvl5pPr indent="-330200" lvl="4" marL="22860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5pPr>
            <a:lvl6pPr indent="-330200" lvl="5" marL="2743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6pPr>
            <a:lvl7pPr indent="-330200" lvl="6" marL="32004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7pPr>
            <a:lvl8pPr indent="-330200" lvl="7" marL="36576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8pPr>
            <a:lvl9pPr indent="-330200" lvl="8" marL="41148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9pPr>
          </a:lstStyle>
          <a:p/>
        </p:txBody>
      </p:sp>
      <p:sp>
        <p:nvSpPr>
          <p:cNvPr id="275" name="Google Shape;275;p4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276" name="Google Shape;276;p42"/>
          <p:cNvSpPr txBox="1"/>
          <p:nvPr>
            <p:ph idx="12" type="sldNum"/>
          </p:nvPr>
        </p:nvSpPr>
        <p:spPr>
          <a:xfrm>
            <a:off x="9625" y="6356352"/>
            <a:ext cx="371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0" i="0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  <p:sp>
        <p:nvSpPr>
          <p:cNvPr id="277" name="Google Shape;277;p42"/>
          <p:cNvSpPr/>
          <p:nvPr>
            <p:ph idx="3" type="body"/>
          </p:nvPr>
        </p:nvSpPr>
        <p:spPr>
          <a:xfrm>
            <a:off x="3936000" y="6247608"/>
            <a:ext cx="4320000" cy="360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0" sz="1800">
                <a:solidFill>
                  <a:srgbClr val="616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عنوانان ومحتوى">
  <p:cSld name="1_عنوانان ومحتوى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/>
          <p:nvPr>
            <p:ph idx="12" type="sldNum"/>
          </p:nvPr>
        </p:nvSpPr>
        <p:spPr>
          <a:xfrm>
            <a:off x="-96253" y="6359395"/>
            <a:ext cx="4772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1" i="0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1630392" y="1079143"/>
            <a:ext cx="9040483" cy="606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80"/>
              <a:buNone/>
              <a:defRPr b="0" sz="2600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81" name="Google Shape;281;p43"/>
          <p:cNvSpPr/>
          <p:nvPr>
            <p:ph type="title"/>
          </p:nvPr>
        </p:nvSpPr>
        <p:spPr>
          <a:xfrm>
            <a:off x="1630392" y="365126"/>
            <a:ext cx="9040483" cy="684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43"/>
          <p:cNvSpPr txBox="1"/>
          <p:nvPr>
            <p:ph idx="2" type="body"/>
          </p:nvPr>
        </p:nvSpPr>
        <p:spPr>
          <a:xfrm>
            <a:off x="838200" y="1751315"/>
            <a:ext cx="1051560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  <a:defRPr b="1" sz="4000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Noto Sans Symbols"/>
              <a:buChar char="❖"/>
              <a:defRPr sz="3800">
                <a:solidFill>
                  <a:schemeClr val="dk1"/>
                </a:solidFill>
              </a:defRPr>
            </a:lvl3pPr>
            <a:lvl4pPr indent="-421640" lvl="3" marL="182880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3040"/>
              <a:buChar char="►"/>
              <a:defRPr sz="3800"/>
            </a:lvl4pPr>
            <a:lvl5pPr indent="-421640" lvl="4" marL="228600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3040"/>
              <a:buChar char="►"/>
              <a:defRPr sz="38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pic>
        <p:nvPicPr>
          <p:cNvPr id="283" name="Google Shape;28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58576" y="6105526"/>
            <a:ext cx="439572" cy="43957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3"/>
          <p:cNvSpPr/>
          <p:nvPr>
            <p:ph idx="3" type="body"/>
          </p:nvPr>
        </p:nvSpPr>
        <p:spPr>
          <a:xfrm>
            <a:off x="3936000" y="6247608"/>
            <a:ext cx="4320000" cy="360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0" sz="1800">
                <a:solidFill>
                  <a:srgbClr val="616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Google Shape;11;p2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0"/>
            <p:cNvSpPr/>
            <p:nvPr/>
          </p:nvSpPr>
          <p:spPr>
            <a:xfrm rot="-589932">
              <a:off x="8490951" y="17975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0"/>
            <p:cNvSpPr/>
            <p:nvPr/>
          </p:nvSpPr>
          <p:spPr>
            <a:xfrm>
              <a:off x="459506" y="1866405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9" name="Google Shape;19;p20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0" name="Google Shape;20;p20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" name="Google Shape;21;p20"/>
          <p:cNvSpPr txBox="1"/>
          <p:nvPr>
            <p:ph idx="1" type="body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" name="Google Shape;24;p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7.xml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12192001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"/>
          <p:cNvSpPr txBox="1"/>
          <p:nvPr>
            <p:ph type="title"/>
          </p:nvPr>
        </p:nvSpPr>
        <p:spPr>
          <a:xfrm>
            <a:off x="1154954" y="609600"/>
            <a:ext cx="8761413" cy="1071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ar-SA" sz="4000">
                <a:solidFill>
                  <a:schemeClr val="lt1"/>
                </a:solidFill>
              </a:rPr>
              <a:t>القاعدة الأولى: «النية شرط قبول العمل»</a:t>
            </a:r>
            <a:endParaRPr sz="4000">
              <a:solidFill>
                <a:schemeClr val="lt1"/>
              </a:solidFill>
            </a:endParaRPr>
          </a:p>
        </p:txBody>
      </p:sp>
      <p:grpSp>
        <p:nvGrpSpPr>
          <p:cNvPr id="296" name="Google Shape;296;p2"/>
          <p:cNvGrpSpPr/>
          <p:nvPr/>
        </p:nvGrpSpPr>
        <p:grpSpPr>
          <a:xfrm>
            <a:off x="2251474" y="2202272"/>
            <a:ext cx="7874654" cy="3890871"/>
            <a:chOff x="3573" y="221931"/>
            <a:chExt cx="7874654" cy="3890871"/>
          </a:xfrm>
        </p:grpSpPr>
        <p:sp>
          <p:nvSpPr>
            <p:cNvPr id="297" name="Google Shape;297;p2"/>
            <p:cNvSpPr/>
            <p:nvPr/>
          </p:nvSpPr>
          <p:spPr>
            <a:xfrm>
              <a:off x="4038172" y="221931"/>
              <a:ext cx="3840055" cy="116726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E6933A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509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"/>
            <p:cNvSpPr txBox="1"/>
            <p:nvPr/>
          </p:nvSpPr>
          <p:spPr>
            <a:xfrm>
              <a:off x="4095153" y="278912"/>
              <a:ext cx="3726093" cy="1053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صيغة القاعدة. </a:t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3573" y="221931"/>
              <a:ext cx="3840055" cy="116726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9BEA45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509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"/>
            <p:cNvSpPr txBox="1"/>
            <p:nvPr/>
          </p:nvSpPr>
          <p:spPr>
            <a:xfrm>
              <a:off x="60554" y="278912"/>
              <a:ext cx="3726093" cy="1053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المعنى الإجماليّ. </a:t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4038172" y="1583736"/>
              <a:ext cx="3840055" cy="116726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51EC95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509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"/>
            <p:cNvSpPr txBox="1"/>
            <p:nvPr/>
          </p:nvSpPr>
          <p:spPr>
            <a:xfrm>
              <a:off x="4095153" y="1640717"/>
              <a:ext cx="3726093" cy="1053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أهميّة القاعدة.</a:t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3573" y="1583736"/>
              <a:ext cx="3840055" cy="116726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5DB5EE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509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"/>
            <p:cNvSpPr txBox="1"/>
            <p:nvPr/>
          </p:nvSpPr>
          <p:spPr>
            <a:xfrm>
              <a:off x="60554" y="1640717"/>
              <a:ext cx="3726093" cy="1053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حكم القاعدة. </a:t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020873" y="2945541"/>
              <a:ext cx="3840055" cy="116726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996AF0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509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"/>
            <p:cNvSpPr txBox="1"/>
            <p:nvPr/>
          </p:nvSpPr>
          <p:spPr>
            <a:xfrm>
              <a:off x="2077854" y="3002522"/>
              <a:ext cx="3726093" cy="1053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مسائل متعلقة بالنية.</a:t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ar-SA"/>
              <a:t>صيغة القاعدة</a:t>
            </a:r>
            <a:endParaRPr/>
          </a:p>
        </p:txBody>
      </p:sp>
      <p:grpSp>
        <p:nvGrpSpPr>
          <p:cNvPr id="312" name="Google Shape;312;p3"/>
          <p:cNvGrpSpPr/>
          <p:nvPr/>
        </p:nvGrpSpPr>
        <p:grpSpPr>
          <a:xfrm>
            <a:off x="1650559" y="1623733"/>
            <a:ext cx="8890880" cy="4179362"/>
            <a:chOff x="291659" y="1056"/>
            <a:chExt cx="8890880" cy="4179362"/>
          </a:xfrm>
        </p:grpSpPr>
        <p:sp>
          <p:nvSpPr>
            <p:cNvPr id="313" name="Google Shape;313;p3"/>
            <p:cNvSpPr/>
            <p:nvPr/>
          </p:nvSpPr>
          <p:spPr>
            <a:xfrm>
              <a:off x="2395419" y="2056321"/>
              <a:ext cx="91440" cy="29296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cap="rnd" cmpd="sng" w="19050">
              <a:solidFill>
                <a:srgbClr val="B9B82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14" name="Google Shape;314;p3"/>
            <p:cNvSpPr/>
            <p:nvPr/>
          </p:nvSpPr>
          <p:spPr>
            <a:xfrm>
              <a:off x="2441139" y="854032"/>
              <a:ext cx="2295960" cy="29296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rnd" cmpd="sng" w="19050">
              <a:solidFill>
                <a:srgbClr val="B9B82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15" name="Google Shape;315;p3"/>
            <p:cNvSpPr/>
            <p:nvPr/>
          </p:nvSpPr>
          <p:spPr>
            <a:xfrm>
              <a:off x="6987340" y="2056321"/>
              <a:ext cx="91440" cy="29296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cap="rnd" cmpd="sng" w="19050">
              <a:solidFill>
                <a:srgbClr val="B9B82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16" name="Google Shape;316;p3"/>
            <p:cNvSpPr/>
            <p:nvPr/>
          </p:nvSpPr>
          <p:spPr>
            <a:xfrm>
              <a:off x="4737099" y="854032"/>
              <a:ext cx="2295960" cy="29296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rnd" cmpd="sng" w="19050">
              <a:solidFill>
                <a:srgbClr val="B9B82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17" name="Google Shape;317;p3"/>
            <p:cNvSpPr/>
            <p:nvPr/>
          </p:nvSpPr>
          <p:spPr>
            <a:xfrm>
              <a:off x="2231191" y="1056"/>
              <a:ext cx="5011816" cy="852975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4BEB0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"/>
            <p:cNvSpPr txBox="1"/>
            <p:nvPr/>
          </p:nvSpPr>
          <p:spPr>
            <a:xfrm>
              <a:off x="2272830" y="42695"/>
              <a:ext cx="4928538" cy="769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8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وردت بصيغٍ متنوّعةٍ، ومنها:</a:t>
              </a:r>
              <a:endParaRPr b="0" i="0" sz="28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4883580" y="1146992"/>
              <a:ext cx="4298959" cy="909328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589C1"/>
            </a:solidFill>
            <a:ln cap="rnd" cmpd="sng" w="19050">
              <a:solidFill>
                <a:srgbClr val="B9B8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"/>
            <p:cNvSpPr txBox="1"/>
            <p:nvPr/>
          </p:nvSpPr>
          <p:spPr>
            <a:xfrm>
              <a:off x="4927970" y="1191382"/>
              <a:ext cx="4210179" cy="820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8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«النية شرط قبول العمل»</a:t>
              </a:r>
              <a:endParaRPr b="0" i="0" sz="28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4883580" y="2349282"/>
              <a:ext cx="4298959" cy="1831136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9DED7"/>
            </a:solidFill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"/>
            <p:cNvSpPr txBox="1"/>
            <p:nvPr/>
          </p:nvSpPr>
          <p:spPr>
            <a:xfrm>
              <a:off x="4972969" y="2438671"/>
              <a:ext cx="4120181" cy="1652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هي الصّيغة المشهورة في كتب القواعد الفقهيّة.</a:t>
              </a:r>
              <a:endParaRPr b="0" i="0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291659" y="1146992"/>
              <a:ext cx="4298959" cy="909328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589C1"/>
            </a:solidFill>
            <a:ln cap="rnd" cmpd="sng" w="19050">
              <a:solidFill>
                <a:srgbClr val="B9B8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"/>
            <p:cNvSpPr txBox="1"/>
            <p:nvPr/>
          </p:nvSpPr>
          <p:spPr>
            <a:xfrm>
              <a:off x="336049" y="1191382"/>
              <a:ext cx="4210179" cy="820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8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«الأعمال بالنّيّات»</a:t>
              </a:r>
              <a:endParaRPr b="0" i="0" sz="28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291659" y="2349282"/>
              <a:ext cx="4298959" cy="1831136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9DED7"/>
            </a:solidFill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"/>
            <p:cNvSpPr txBox="1"/>
            <p:nvPr/>
          </p:nvSpPr>
          <p:spPr>
            <a:xfrm>
              <a:off x="381048" y="2438671"/>
              <a:ext cx="4120181" cy="1652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12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هذا اللّفظ ورد في السّنّة، وهو الأكثر حضورًا في كتب الأصوليّين والفقهاء وغيرِهم.</a:t>
              </a:r>
              <a:endParaRPr b="0" i="0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ar-SA"/>
              <a:t>المعنى الإجمالي</a:t>
            </a:r>
            <a:endParaRPr/>
          </a:p>
        </p:txBody>
      </p:sp>
      <p:sp>
        <p:nvSpPr>
          <p:cNvPr id="332" name="Google Shape;332;p4"/>
          <p:cNvSpPr/>
          <p:nvPr/>
        </p:nvSpPr>
        <p:spPr>
          <a:xfrm>
            <a:off x="3039665" y="2369344"/>
            <a:ext cx="6112669" cy="2119312"/>
          </a:xfrm>
          <a:prstGeom prst="snip2DiagRect">
            <a:avLst>
              <a:gd fmla="val 0" name="adj1"/>
              <a:gd fmla="val 19422" name="adj2"/>
            </a:avLst>
          </a:prstGeom>
          <a:solidFill>
            <a:srgbClr val="F9D7E1">
              <a:alpha val="70980"/>
            </a:srgbClr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8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أنّ أقوالَ المكلّفين وأفعالَهم تختلف أحكامها باختلاف نيّاتهم فيها.</a:t>
            </a:r>
            <a:endParaRPr b="0" i="0" sz="28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ar-SA"/>
              <a:t>أهمية القاعدة</a:t>
            </a:r>
            <a:endParaRPr/>
          </a:p>
        </p:txBody>
      </p:sp>
      <p:grpSp>
        <p:nvGrpSpPr>
          <p:cNvPr id="338" name="Google Shape;338;p5"/>
          <p:cNvGrpSpPr/>
          <p:nvPr/>
        </p:nvGrpSpPr>
        <p:grpSpPr>
          <a:xfrm>
            <a:off x="1094218" y="1717334"/>
            <a:ext cx="9984512" cy="3992158"/>
            <a:chOff x="275068" y="1524"/>
            <a:chExt cx="9984512" cy="3992158"/>
          </a:xfrm>
        </p:grpSpPr>
        <p:sp>
          <p:nvSpPr>
            <p:cNvPr id="339" name="Google Shape;339;p5"/>
            <p:cNvSpPr/>
            <p:nvPr/>
          </p:nvSpPr>
          <p:spPr>
            <a:xfrm>
              <a:off x="5420869" y="1524"/>
              <a:ext cx="4838711" cy="184253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F9D7E1">
                <a:alpha val="65098"/>
              </a:srgbClr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"/>
            <p:cNvSpPr txBox="1"/>
            <p:nvPr/>
          </p:nvSpPr>
          <p:spPr>
            <a:xfrm>
              <a:off x="5510814" y="91469"/>
              <a:ext cx="4658821" cy="1752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كونها قاعدة </a:t>
              </a:r>
              <a:r>
                <a:rPr b="0" i="0" lang="ar-SA" sz="2400" u="none" cap="none" strike="noStrike">
                  <a:solidFill>
                    <a:srgbClr val="B9B822"/>
                  </a:solidFill>
                  <a:latin typeface="Arial"/>
                  <a:ea typeface="Arial"/>
                  <a:cs typeface="Arial"/>
                  <a:sym typeface="Arial"/>
                </a:rPr>
                <a:t>ينبني عليها الحكم على الأقوال والأعمال</a:t>
              </a: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0" i="0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275068" y="1524"/>
              <a:ext cx="4838711" cy="184253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F9D7E1">
                <a:alpha val="65098"/>
              </a:srgbClr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"/>
            <p:cNvSpPr txBox="1"/>
            <p:nvPr/>
          </p:nvSpPr>
          <p:spPr>
            <a:xfrm>
              <a:off x="365013" y="91469"/>
              <a:ext cx="4658821" cy="1752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أنّ النّيّة من أعمال القلوب التي هي </a:t>
              </a:r>
              <a:r>
                <a:rPr b="0" i="0" lang="ar-SA" sz="2400" u="none" cap="none" strike="noStrike">
                  <a:solidFill>
                    <a:srgbClr val="B9B822"/>
                  </a:solidFill>
                  <a:latin typeface="Arial"/>
                  <a:ea typeface="Arial"/>
                  <a:cs typeface="Arial"/>
                  <a:sym typeface="Arial"/>
                </a:rPr>
                <a:t>محلُّ نظرِ الله تعالى</a:t>
              </a: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2847969" y="2151148"/>
              <a:ext cx="4838711" cy="184253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F9D7E1">
                <a:alpha val="65098"/>
              </a:srgbClr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"/>
            <p:cNvSpPr txBox="1"/>
            <p:nvPr/>
          </p:nvSpPr>
          <p:spPr>
            <a:xfrm>
              <a:off x="2937914" y="2241093"/>
              <a:ext cx="4658821" cy="1752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2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أنّ هذه القاعدة ترجع في أصلها إلى حديث: </a:t>
              </a:r>
              <a:r>
                <a:rPr b="1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«إِنَّمَا الْأَعْمَالُ بِالنِّيَّاتِ»</a:t>
              </a: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، وهو حديثٌ عظيمٌ، نصّ العلماء على كونه من الأحاديث التي هي </a:t>
              </a:r>
              <a:r>
                <a:rPr b="0" i="0" lang="ar-SA" sz="2400" u="none" cap="none" strike="noStrike">
                  <a:solidFill>
                    <a:srgbClr val="B9B822"/>
                  </a:solidFill>
                  <a:latin typeface="Arial"/>
                  <a:ea typeface="Arial"/>
                  <a:cs typeface="Arial"/>
                  <a:sym typeface="Arial"/>
                </a:rPr>
                <a:t>أصول الإسلام وعليها مدارُه</a:t>
              </a: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ar-SA"/>
              <a:t>حكم القاعدة</a:t>
            </a:r>
            <a:endParaRPr/>
          </a:p>
        </p:txBody>
      </p:sp>
      <p:grpSp>
        <p:nvGrpSpPr>
          <p:cNvPr id="350" name="Google Shape;350;p6"/>
          <p:cNvGrpSpPr/>
          <p:nvPr/>
        </p:nvGrpSpPr>
        <p:grpSpPr>
          <a:xfrm>
            <a:off x="1186652" y="1542377"/>
            <a:ext cx="9818695" cy="4342073"/>
            <a:chOff x="4758" y="117079"/>
            <a:chExt cx="9818695" cy="4342073"/>
          </a:xfrm>
        </p:grpSpPr>
        <p:sp>
          <p:nvSpPr>
            <p:cNvPr id="351" name="Google Shape;351;p6"/>
            <p:cNvSpPr/>
            <p:nvPr/>
          </p:nvSpPr>
          <p:spPr>
            <a:xfrm>
              <a:off x="2294983" y="2853490"/>
              <a:ext cx="91440" cy="474914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cap="rnd" cmpd="sng" w="19050">
              <a:solidFill>
                <a:srgbClr val="B9B82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52" name="Google Shape;352;p6"/>
            <p:cNvSpPr/>
            <p:nvPr/>
          </p:nvSpPr>
          <p:spPr>
            <a:xfrm>
              <a:off x="2340703" y="1247828"/>
              <a:ext cx="2573402" cy="474914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rnd" cmpd="sng" w="19050">
              <a:solidFill>
                <a:srgbClr val="B9B82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53" name="Google Shape;353;p6"/>
            <p:cNvSpPr/>
            <p:nvPr/>
          </p:nvSpPr>
          <p:spPr>
            <a:xfrm>
              <a:off x="7441788" y="2853490"/>
              <a:ext cx="91440" cy="474914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cap="rnd" cmpd="sng" w="19050">
              <a:solidFill>
                <a:srgbClr val="B9B82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54" name="Google Shape;354;p6"/>
            <p:cNvSpPr/>
            <p:nvPr/>
          </p:nvSpPr>
          <p:spPr>
            <a:xfrm>
              <a:off x="4914105" y="1247828"/>
              <a:ext cx="2573402" cy="474914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rnd" cmpd="sng" w="19050">
              <a:solidFill>
                <a:srgbClr val="B9B82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55" name="Google Shape;355;p6"/>
            <p:cNvSpPr/>
            <p:nvPr/>
          </p:nvSpPr>
          <p:spPr>
            <a:xfrm>
              <a:off x="3342478" y="117079"/>
              <a:ext cx="3143254" cy="1130748"/>
            </a:xfrm>
            <a:prstGeom prst="snip2DiagRect">
              <a:avLst>
                <a:gd fmla="val 0" name="adj1"/>
                <a:gd fmla="val 16667" name="adj2"/>
              </a:avLst>
            </a:prstGeom>
            <a:solidFill>
              <a:srgbClr val="EE52A4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6"/>
            <p:cNvSpPr txBox="1"/>
            <p:nvPr/>
          </p:nvSpPr>
          <p:spPr>
            <a:xfrm>
              <a:off x="3436709" y="211310"/>
              <a:ext cx="2954792" cy="942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متفق عليها بين العلماء، ومن أدلتها:</a:t>
              </a:r>
              <a:endParaRPr b="0" i="0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6"/>
            <p:cNvSpPr/>
            <p:nvPr/>
          </p:nvSpPr>
          <p:spPr>
            <a:xfrm>
              <a:off x="5151563" y="1722742"/>
              <a:ext cx="4671890" cy="1130748"/>
            </a:xfrm>
            <a:prstGeom prst="snip2DiagRect">
              <a:avLst>
                <a:gd fmla="val 0" name="adj1"/>
                <a:gd fmla="val 16667" name="adj2"/>
              </a:avLst>
            </a:prstGeom>
            <a:solidFill>
              <a:srgbClr val="F589C1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6"/>
            <p:cNvSpPr txBox="1"/>
            <p:nvPr/>
          </p:nvSpPr>
          <p:spPr>
            <a:xfrm>
              <a:off x="5245794" y="1816973"/>
              <a:ext cx="4483428" cy="942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(1) الأدلّة الدّالّة على تأثير النّيّة في الأعمال، وترتيب الثّواب والعقاب عليها، </a:t>
              </a:r>
              <a:r>
                <a:rPr b="0" i="0" lang="ar-SA" sz="2400" u="none" cap="none" strike="noStrike">
                  <a:solidFill>
                    <a:srgbClr val="171616"/>
                  </a:solidFill>
                  <a:latin typeface="Arial"/>
                  <a:ea typeface="Arial"/>
                  <a:cs typeface="Arial"/>
                  <a:sym typeface="Arial"/>
                </a:rPr>
                <a:t>ومنها:</a:t>
              </a:r>
              <a:endParaRPr b="0" i="0" sz="2400" u="none" cap="none" strike="noStrik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5151563" y="3328404"/>
              <a:ext cx="4671890" cy="1130748"/>
            </a:xfrm>
            <a:prstGeom prst="snip2DiagRect">
              <a:avLst>
                <a:gd fmla="val 0" name="adj1"/>
                <a:gd fmla="val 16667" name="adj2"/>
              </a:avLst>
            </a:prstGeom>
            <a:solidFill>
              <a:srgbClr val="F9D7E1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6"/>
            <p:cNvSpPr txBox="1"/>
            <p:nvPr/>
          </p:nvSpPr>
          <p:spPr>
            <a:xfrm>
              <a:off x="5245794" y="3422635"/>
              <a:ext cx="4483428" cy="942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قوله تعالى: ﴿</a:t>
              </a:r>
              <a:r>
                <a:rPr b="0" i="0" lang="ar-SA" sz="2400" u="none" cap="none" strike="noStrike">
                  <a:solidFill>
                    <a:srgbClr val="641AEA"/>
                  </a:solidFill>
                  <a:latin typeface="Arial"/>
                  <a:ea typeface="Arial"/>
                  <a:cs typeface="Arial"/>
                  <a:sym typeface="Arial"/>
                </a:rPr>
                <a:t>وَمَنْ يَفْعَلْ ذلِكَ ابْتِغاءَ مَرْضاتِ اللَّهِ فَسَوْفَ نُؤْتِيهِ أَجْراً عَظِيماً</a:t>
              </a: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﴾.</a:t>
              </a:r>
              <a:endParaRPr b="0" i="0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6"/>
            <p:cNvSpPr/>
            <p:nvPr/>
          </p:nvSpPr>
          <p:spPr>
            <a:xfrm>
              <a:off x="4758" y="1722742"/>
              <a:ext cx="4671890" cy="1130748"/>
            </a:xfrm>
            <a:prstGeom prst="snip2DiagRect">
              <a:avLst>
                <a:gd fmla="val 0" name="adj1"/>
                <a:gd fmla="val 16667" name="adj2"/>
              </a:avLst>
            </a:prstGeom>
            <a:solidFill>
              <a:srgbClr val="F589C1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6"/>
            <p:cNvSpPr txBox="1"/>
            <p:nvPr/>
          </p:nvSpPr>
          <p:spPr>
            <a:xfrm>
              <a:off x="98989" y="1816973"/>
              <a:ext cx="4483428" cy="942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(2) الأدلّة الدّالّة على وجوب الإخلاص في العمل، </a:t>
              </a:r>
              <a:r>
                <a:rPr b="0" i="0" lang="ar-SA" sz="2400" u="none" cap="none" strike="noStrike">
                  <a:solidFill>
                    <a:srgbClr val="171616"/>
                  </a:solidFill>
                  <a:latin typeface="Arial"/>
                  <a:ea typeface="Arial"/>
                  <a:cs typeface="Arial"/>
                  <a:sym typeface="Arial"/>
                </a:rPr>
                <a:t>ومن ذلك:</a:t>
              </a:r>
              <a:endParaRPr b="0" i="0" sz="2400" u="none" cap="none" strike="noStrik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6"/>
            <p:cNvSpPr/>
            <p:nvPr/>
          </p:nvSpPr>
          <p:spPr>
            <a:xfrm>
              <a:off x="4758" y="3328404"/>
              <a:ext cx="4671890" cy="1130748"/>
            </a:xfrm>
            <a:prstGeom prst="snip2DiagRect">
              <a:avLst>
                <a:gd fmla="val 0" name="adj1"/>
                <a:gd fmla="val 16667" name="adj2"/>
              </a:avLst>
            </a:prstGeom>
            <a:solidFill>
              <a:srgbClr val="F9D7E1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6"/>
            <p:cNvSpPr txBox="1"/>
            <p:nvPr/>
          </p:nvSpPr>
          <p:spPr>
            <a:xfrm>
              <a:off x="98989" y="3422635"/>
              <a:ext cx="4483428" cy="942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قوله تعالى: ﴿</a:t>
              </a:r>
              <a:r>
                <a:rPr b="0" i="0" lang="ar-SA" sz="2400" u="none" cap="none" strike="noStrike">
                  <a:solidFill>
                    <a:srgbClr val="641AEA"/>
                  </a:solidFill>
                  <a:latin typeface="Arial"/>
                  <a:ea typeface="Arial"/>
                  <a:cs typeface="Arial"/>
                  <a:sym typeface="Arial"/>
                </a:rPr>
                <a:t>وَمَا أُمِرُوا إِلَّا لِيَعْبُدُوا اللَّهَ مُخْلِصِينَ لَهُ الدِّينَ</a:t>
              </a: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﴾.</a:t>
              </a:r>
              <a:endParaRPr b="0" i="0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ar-SA"/>
              <a:t>مسائل متعلقة بالنية</a:t>
            </a:r>
            <a:endParaRPr/>
          </a:p>
        </p:txBody>
      </p:sp>
      <p:grpSp>
        <p:nvGrpSpPr>
          <p:cNvPr id="370" name="Google Shape;370;p7"/>
          <p:cNvGrpSpPr/>
          <p:nvPr/>
        </p:nvGrpSpPr>
        <p:grpSpPr>
          <a:xfrm>
            <a:off x="1782102" y="1960893"/>
            <a:ext cx="8627794" cy="3505041"/>
            <a:chOff x="0" y="554645"/>
            <a:chExt cx="8627794" cy="3505041"/>
          </a:xfrm>
        </p:grpSpPr>
        <p:sp>
          <p:nvSpPr>
            <p:cNvPr id="371" name="Google Shape;371;p7"/>
            <p:cNvSpPr/>
            <p:nvPr/>
          </p:nvSpPr>
          <p:spPr>
            <a:xfrm>
              <a:off x="0" y="554645"/>
              <a:ext cx="2696185" cy="1617711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589C1"/>
            </a:solidFill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7"/>
            <p:cNvSpPr txBox="1"/>
            <p:nvPr/>
          </p:nvSpPr>
          <p:spPr>
            <a:xfrm>
              <a:off x="359491" y="770340"/>
              <a:ext cx="1977203" cy="1186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8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ما لا يحتاج إلى نيّةٍ.</a:t>
              </a:r>
              <a:endParaRPr b="0" i="0" sz="28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7"/>
            <p:cNvSpPr/>
            <p:nvPr/>
          </p:nvSpPr>
          <p:spPr>
            <a:xfrm>
              <a:off x="2965804" y="554645"/>
              <a:ext cx="2696185" cy="1617711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589C1"/>
            </a:solidFill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7"/>
            <p:cNvSpPr txBox="1"/>
            <p:nvPr/>
          </p:nvSpPr>
          <p:spPr>
            <a:xfrm>
              <a:off x="3325295" y="770340"/>
              <a:ext cx="1977203" cy="1186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8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أقسام النّيّة وحكمها.</a:t>
              </a:r>
              <a:endParaRPr b="0" i="0" sz="28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7"/>
            <p:cNvSpPr/>
            <p:nvPr/>
          </p:nvSpPr>
          <p:spPr>
            <a:xfrm>
              <a:off x="5931609" y="554645"/>
              <a:ext cx="2696185" cy="1617711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589C1"/>
            </a:solidFill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7"/>
            <p:cNvSpPr txBox="1"/>
            <p:nvPr/>
          </p:nvSpPr>
          <p:spPr>
            <a:xfrm>
              <a:off x="6291100" y="770340"/>
              <a:ext cx="1977203" cy="1186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8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حقيقة النّيّة.</a:t>
              </a:r>
              <a:endParaRPr b="0" i="0" sz="28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7"/>
            <p:cNvSpPr/>
            <p:nvPr/>
          </p:nvSpPr>
          <p:spPr>
            <a:xfrm>
              <a:off x="0" y="2441975"/>
              <a:ext cx="2696185" cy="1617711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589C1"/>
            </a:solidFill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7"/>
            <p:cNvSpPr txBox="1"/>
            <p:nvPr/>
          </p:nvSpPr>
          <p:spPr>
            <a:xfrm>
              <a:off x="359491" y="2657670"/>
              <a:ext cx="1977203" cy="1186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8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شروط النيّة.</a:t>
              </a:r>
              <a:endParaRPr b="0" i="0" sz="28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2965804" y="2441975"/>
              <a:ext cx="2696185" cy="1617711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589C1"/>
            </a:solidFill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7"/>
            <p:cNvSpPr txBox="1"/>
            <p:nvPr/>
          </p:nvSpPr>
          <p:spPr>
            <a:xfrm>
              <a:off x="3325295" y="2657670"/>
              <a:ext cx="1977203" cy="1186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8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موضع النيّة.</a:t>
              </a:r>
              <a:endParaRPr b="0" i="0" sz="28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5931609" y="2441975"/>
              <a:ext cx="2696185" cy="1617711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589C1"/>
            </a:solidFill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7"/>
            <p:cNvSpPr txBox="1"/>
            <p:nvPr/>
          </p:nvSpPr>
          <p:spPr>
            <a:xfrm>
              <a:off x="6291100" y="2657670"/>
              <a:ext cx="1977203" cy="1186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8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محلّ النيّة.</a:t>
              </a:r>
              <a:endParaRPr b="0" i="0" sz="28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8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ar-SA"/>
              <a:t>حقيقة النية</a:t>
            </a:r>
            <a:endParaRPr/>
          </a:p>
        </p:txBody>
      </p:sp>
      <p:grpSp>
        <p:nvGrpSpPr>
          <p:cNvPr id="388" name="Google Shape;388;p8"/>
          <p:cNvGrpSpPr/>
          <p:nvPr/>
        </p:nvGrpSpPr>
        <p:grpSpPr>
          <a:xfrm>
            <a:off x="1540187" y="2737090"/>
            <a:ext cx="9111624" cy="1383817"/>
            <a:chOff x="8250" y="214691"/>
            <a:chExt cx="9111624" cy="1383817"/>
          </a:xfrm>
        </p:grpSpPr>
        <p:sp>
          <p:nvSpPr>
            <p:cNvPr id="389" name="Google Shape;389;p8"/>
            <p:cNvSpPr/>
            <p:nvPr/>
          </p:nvSpPr>
          <p:spPr>
            <a:xfrm>
              <a:off x="6430301" y="214691"/>
              <a:ext cx="2689573" cy="1383817"/>
            </a:xfrm>
            <a:prstGeom prst="roundRect">
              <a:avLst>
                <a:gd fmla="val 16667" name="adj"/>
              </a:avLst>
            </a:prstGeom>
            <a:solidFill>
              <a:srgbClr val="F589C1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8"/>
            <p:cNvSpPr txBox="1"/>
            <p:nvPr/>
          </p:nvSpPr>
          <p:spPr>
            <a:xfrm>
              <a:off x="6497853" y="282243"/>
              <a:ext cx="2554469" cy="1248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تعريفها عند الفقهاء</a:t>
              </a:r>
              <a:endParaRPr b="0" i="0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8"/>
            <p:cNvSpPr/>
            <p:nvPr/>
          </p:nvSpPr>
          <p:spPr>
            <a:xfrm rot="10800000">
              <a:off x="5569872" y="853215"/>
              <a:ext cx="860429" cy="10677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rnd" cmpd="sng" w="19050">
              <a:solidFill>
                <a:srgbClr val="B9B8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8"/>
            <p:cNvSpPr txBox="1"/>
            <p:nvPr/>
          </p:nvSpPr>
          <p:spPr>
            <a:xfrm>
              <a:off x="5978576" y="885089"/>
              <a:ext cx="43021" cy="43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8250" y="214691"/>
              <a:ext cx="5561621" cy="1383817"/>
            </a:xfrm>
            <a:prstGeom prst="roundRect">
              <a:avLst>
                <a:gd fmla="val 16667" name="adj"/>
              </a:avLst>
            </a:prstGeom>
            <a:solidFill>
              <a:srgbClr val="F9D7E1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8"/>
            <p:cNvSpPr txBox="1"/>
            <p:nvPr/>
          </p:nvSpPr>
          <p:spPr>
            <a:xfrm>
              <a:off x="75802" y="282243"/>
              <a:ext cx="5426517" cy="1248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العزم على فعل الشّيء؛ من عبادةٍ وغيرها.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None/>
              </a:pPr>
              <a:r>
                <a:rPr b="0" i="0" lang="ar-SA" sz="2400" u="none" cap="none" strike="noStrike">
                  <a:solidFill>
                    <a:srgbClr val="171717"/>
                  </a:solidFill>
                  <a:latin typeface="Arial"/>
                  <a:ea typeface="Arial"/>
                  <a:cs typeface="Arial"/>
                  <a:sym typeface="Arial"/>
                </a:rPr>
                <a:t>ويُزاد عليه في العبادة: تقرّبًا إلى الله تعالى.</a:t>
              </a:r>
              <a:endParaRPr b="0" i="0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9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ar-SA"/>
              <a:t>أقسام النّيّة وحكمها</a:t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9867900" y="3184725"/>
            <a:ext cx="1671945" cy="84619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E52A4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Arial"/>
              <a:buNone/>
            </a:pPr>
            <a:r>
              <a:rPr b="0" i="0" lang="ar-SA" sz="28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أقسام النية</a:t>
            </a:r>
            <a:endParaRPr b="0" i="0" sz="28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7508985" y="2196371"/>
            <a:ext cx="1831754" cy="87374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589C1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نيّة المعمول له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723900" y="1455867"/>
            <a:ext cx="6257925" cy="101649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ED7"/>
          </a:solidFill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بمعنى: تمييز المقصود بالعمل، وهل هو لله وحده لا شريك له، أو لغيره، أو لله ولغيره؟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723900" y="2596095"/>
            <a:ext cx="6257925" cy="101649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ED7"/>
          </a:solidFill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قد يتكلّم عنها الفقهاء، لكنّها عادةً تُذكر في التّوحيد.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7508985" y="4393859"/>
            <a:ext cx="1831754" cy="87374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589C1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نيّة العمل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723900" y="3814240"/>
            <a:ext cx="6257925" cy="101649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ED7"/>
          </a:solidFill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نيّة القصد للعمل، وهي التي يتكلّم عنها الفقهاء غالبًا.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723900" y="4954468"/>
            <a:ext cx="6257925" cy="101649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ED7"/>
          </a:solidFill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شرطٌ واجبٌ في العمل؛ ففي العبادات: لا تصح العبادة إلا بها -سواءً كانت واجبة أو مندوبة-. وفي غير العبادات: شرطٌ لترتب الأثر على الفعل -في الجملة- إلا ما يُستثنى.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p9"/>
          <p:cNvCxnSpPr>
            <a:stCxn id="400" idx="2"/>
            <a:endCxn id="401" idx="0"/>
          </p:cNvCxnSpPr>
          <p:nvPr/>
        </p:nvCxnSpPr>
        <p:spPr>
          <a:xfrm rot="10800000">
            <a:off x="9340800" y="2633120"/>
            <a:ext cx="527100" cy="974700"/>
          </a:xfrm>
          <a:prstGeom prst="straightConnector1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9"/>
          <p:cNvCxnSpPr>
            <a:stCxn id="400" idx="2"/>
            <a:endCxn id="404" idx="0"/>
          </p:cNvCxnSpPr>
          <p:nvPr/>
        </p:nvCxnSpPr>
        <p:spPr>
          <a:xfrm flipH="1">
            <a:off x="9340800" y="3607820"/>
            <a:ext cx="527100" cy="1222800"/>
          </a:xfrm>
          <a:prstGeom prst="straightConnector1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9"/>
          <p:cNvCxnSpPr>
            <a:stCxn id="401" idx="2"/>
            <a:endCxn id="402" idx="0"/>
          </p:cNvCxnSpPr>
          <p:nvPr/>
        </p:nvCxnSpPr>
        <p:spPr>
          <a:xfrm rot="10800000">
            <a:off x="6981885" y="1964245"/>
            <a:ext cx="527100" cy="669000"/>
          </a:xfrm>
          <a:prstGeom prst="straightConnector1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9"/>
          <p:cNvCxnSpPr>
            <a:stCxn id="401" idx="2"/>
            <a:endCxn id="403" idx="0"/>
          </p:cNvCxnSpPr>
          <p:nvPr/>
        </p:nvCxnSpPr>
        <p:spPr>
          <a:xfrm flipH="1">
            <a:off x="6981885" y="2633245"/>
            <a:ext cx="527100" cy="471000"/>
          </a:xfrm>
          <a:prstGeom prst="straightConnector1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9"/>
          <p:cNvCxnSpPr>
            <a:stCxn id="404" idx="2"/>
            <a:endCxn id="405" idx="0"/>
          </p:cNvCxnSpPr>
          <p:nvPr/>
        </p:nvCxnSpPr>
        <p:spPr>
          <a:xfrm rot="10800000">
            <a:off x="6981885" y="4322533"/>
            <a:ext cx="527100" cy="508200"/>
          </a:xfrm>
          <a:prstGeom prst="straightConnector1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9"/>
          <p:cNvCxnSpPr>
            <a:stCxn id="404" idx="2"/>
            <a:endCxn id="406" idx="0"/>
          </p:cNvCxnSpPr>
          <p:nvPr/>
        </p:nvCxnSpPr>
        <p:spPr>
          <a:xfrm flipH="1">
            <a:off x="6981885" y="4830733"/>
            <a:ext cx="527100" cy="632100"/>
          </a:xfrm>
          <a:prstGeom prst="straightConnector1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0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ar-SA"/>
              <a:t>أقسام النّيّة وحكمها</a:t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4444578" y="1368529"/>
            <a:ext cx="3811422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E52A4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الحكمة من مشروعية نيّة العمل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7862045" y="2302774"/>
            <a:ext cx="2216369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4BEB0"/>
          </a:solidFill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التّمييز بين العبادات والعادات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2440187" y="2312483"/>
            <a:ext cx="2216369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4BEB0"/>
          </a:solidFill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التّمييز بين العبادات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6422602" y="3177553"/>
            <a:ext cx="5095256" cy="73814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ED7"/>
          </a:solidFill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مثاله: الغسل قد يكون عبادة؛ كغسل الجنابة، وقد يكون للتّبرّد والتّنظّف؛ فيكون مباحًا.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1000744" y="3177553"/>
            <a:ext cx="5095256" cy="73814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ED7"/>
          </a:solidFill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إذا التبس بعضها ببعضٍ في الفعل والصّورة، وهذا لا يخلو من حالين: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6646642" y="4289126"/>
            <a:ext cx="2216370" cy="73814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589C1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التّمييز بين العبادات في عينها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1695817" y="4289126"/>
            <a:ext cx="2216370" cy="73814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589C1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التّمييز بين رُتَبِ العبادة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5441729" y="5191844"/>
            <a:ext cx="4626196" cy="84255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C4E0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مثاله: لو قصد صلاة الظّهر فهو يحتاج أن ينوي الظهر لتتميز بذلك عن صلاة العصر.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490904" y="5191844"/>
            <a:ext cx="4626196" cy="84255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C4E0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مثاله: الصوم قد يكون واجبًا وقد يكون مندوبًا، ولا يتحدد ذلك إلا بالنية.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p10"/>
          <p:cNvCxnSpPr>
            <a:stCxn id="418" idx="1"/>
            <a:endCxn id="419" idx="3"/>
          </p:cNvCxnSpPr>
          <p:nvPr/>
        </p:nvCxnSpPr>
        <p:spPr>
          <a:xfrm flipH="1" rot="-5400000">
            <a:off x="7548939" y="881574"/>
            <a:ext cx="222600" cy="2619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10"/>
          <p:cNvCxnSpPr>
            <a:stCxn id="418" idx="1"/>
            <a:endCxn id="420" idx="3"/>
          </p:cNvCxnSpPr>
          <p:nvPr/>
        </p:nvCxnSpPr>
        <p:spPr>
          <a:xfrm rot="5400000">
            <a:off x="4833189" y="795324"/>
            <a:ext cx="232200" cy="2802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p10"/>
          <p:cNvCxnSpPr>
            <a:stCxn id="419" idx="1"/>
            <a:endCxn id="421" idx="3"/>
          </p:cNvCxnSpPr>
          <p:nvPr/>
        </p:nvCxnSpPr>
        <p:spPr>
          <a:xfrm>
            <a:off x="8970230" y="3014469"/>
            <a:ext cx="0" cy="163200"/>
          </a:xfrm>
          <a:prstGeom prst="straightConnector1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10"/>
          <p:cNvCxnSpPr>
            <a:stCxn id="420" idx="1"/>
            <a:endCxn id="422" idx="3"/>
          </p:cNvCxnSpPr>
          <p:nvPr/>
        </p:nvCxnSpPr>
        <p:spPr>
          <a:xfrm>
            <a:off x="3548371" y="3024178"/>
            <a:ext cx="0" cy="153300"/>
          </a:xfrm>
          <a:prstGeom prst="straightConnector1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10"/>
          <p:cNvCxnSpPr>
            <a:stCxn id="422" idx="1"/>
            <a:endCxn id="423" idx="3"/>
          </p:cNvCxnSpPr>
          <p:nvPr/>
        </p:nvCxnSpPr>
        <p:spPr>
          <a:xfrm flipH="1" rot="-5400000">
            <a:off x="5464922" y="1999151"/>
            <a:ext cx="373500" cy="4206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" name="Google Shape;432;p10"/>
          <p:cNvCxnSpPr>
            <a:stCxn id="422" idx="1"/>
            <a:endCxn id="424" idx="3"/>
          </p:cNvCxnSpPr>
          <p:nvPr/>
        </p:nvCxnSpPr>
        <p:spPr>
          <a:xfrm rot="5400000">
            <a:off x="2989472" y="3730301"/>
            <a:ext cx="373500" cy="744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10"/>
          <p:cNvCxnSpPr>
            <a:stCxn id="423" idx="1"/>
            <a:endCxn id="425" idx="3"/>
          </p:cNvCxnSpPr>
          <p:nvPr/>
        </p:nvCxnSpPr>
        <p:spPr>
          <a:xfrm>
            <a:off x="7754827" y="5027274"/>
            <a:ext cx="0" cy="164700"/>
          </a:xfrm>
          <a:prstGeom prst="straightConnector1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p10"/>
          <p:cNvCxnSpPr>
            <a:stCxn id="424" idx="1"/>
            <a:endCxn id="426" idx="3"/>
          </p:cNvCxnSpPr>
          <p:nvPr/>
        </p:nvCxnSpPr>
        <p:spPr>
          <a:xfrm>
            <a:off x="2804002" y="5027274"/>
            <a:ext cx="0" cy="164700"/>
          </a:xfrm>
          <a:prstGeom prst="straightConnector1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1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ar-SA"/>
              <a:t>أقسام النّيّة وحكمها</a:t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4773666" y="1615677"/>
            <a:ext cx="2644666" cy="79743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589C1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نيّة المعمول له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(نية الإضافة لله تعالى)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3614737" y="2591881"/>
            <a:ext cx="4962525" cy="46615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4BEB0"/>
          </a:solidFill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اختلف العلماء في حكمها على قولين: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6258544" y="3426960"/>
            <a:ext cx="5095256" cy="88009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ED7"/>
          </a:solidFill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(1) أنّ هذه النّيّةَ مستحبّةٌ وليست شرطًا، وهو قول الحنابلة والشّافعيّة.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836686" y="3426960"/>
            <a:ext cx="5095256" cy="88009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ED7"/>
          </a:solidFill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(2) أنّ هذه النّيّةَ شرطٌ واجبٌ في العبادات كلِّها، وهو قول بعض الحنابلة وبعض الشّافعيّة.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6258544" y="4523585"/>
            <a:ext cx="5095256" cy="107884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C4E0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دليله: أنّ نيّةَ الفعل كافية في تمييزه لله تعالى، والمسلم لا تكون عبادته إلّا لله؛ وعلى هذا فإضافتها لله تعالى كمالٌ مستحبٌّ.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836686" y="4525535"/>
            <a:ext cx="5095256" cy="107884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C4E0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300" lIns="46300" spcFirstLastPara="1" rIns="46300" wrap="square" tIns="46300">
            <a:noAutofit/>
          </a:bodyPr>
          <a:lstStyle/>
          <a:p>
            <a:pPr indent="0" lvl="0" marL="0" marR="0" rtl="0" algn="ctr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دليله: أنه لا يتحقق معنى الإخلاص إلّا بنيّة التّقرّب لله تعالى، ولو لم يُراعَ ذلك لانقلبت أفعال العبد إلى عاداتٍ.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11"/>
          <p:cNvCxnSpPr>
            <a:stCxn id="440" idx="1"/>
            <a:endCxn id="441" idx="3"/>
          </p:cNvCxnSpPr>
          <p:nvPr/>
        </p:nvCxnSpPr>
        <p:spPr>
          <a:xfrm>
            <a:off x="6095999" y="2413107"/>
            <a:ext cx="0" cy="178800"/>
          </a:xfrm>
          <a:prstGeom prst="straightConnector1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11"/>
          <p:cNvCxnSpPr>
            <a:stCxn id="441" idx="1"/>
            <a:endCxn id="442" idx="3"/>
          </p:cNvCxnSpPr>
          <p:nvPr/>
        </p:nvCxnSpPr>
        <p:spPr>
          <a:xfrm flipH="1" rot="-5400000">
            <a:off x="7266599" y="1887432"/>
            <a:ext cx="369000" cy="2710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11"/>
          <p:cNvCxnSpPr>
            <a:stCxn id="441" idx="1"/>
            <a:endCxn id="443" idx="3"/>
          </p:cNvCxnSpPr>
          <p:nvPr/>
        </p:nvCxnSpPr>
        <p:spPr>
          <a:xfrm rot="5400000">
            <a:off x="4555650" y="1886682"/>
            <a:ext cx="369000" cy="2711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11"/>
          <p:cNvCxnSpPr>
            <a:stCxn id="442" idx="1"/>
            <a:endCxn id="444" idx="3"/>
          </p:cNvCxnSpPr>
          <p:nvPr/>
        </p:nvCxnSpPr>
        <p:spPr>
          <a:xfrm>
            <a:off x="8806172" y="4307057"/>
            <a:ext cx="0" cy="216600"/>
          </a:xfrm>
          <a:prstGeom prst="straightConnector1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11"/>
          <p:cNvCxnSpPr>
            <a:stCxn id="443" idx="1"/>
            <a:endCxn id="445" idx="3"/>
          </p:cNvCxnSpPr>
          <p:nvPr/>
        </p:nvCxnSpPr>
        <p:spPr>
          <a:xfrm>
            <a:off x="3384314" y="4307057"/>
            <a:ext cx="0" cy="218400"/>
          </a:xfrm>
          <a:prstGeom prst="straightConnector1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2"/>
          <p:cNvSpPr/>
          <p:nvPr>
            <p:ph idx="2" type="body"/>
          </p:nvPr>
        </p:nvSpPr>
        <p:spPr>
          <a:xfrm>
            <a:off x="3936000" y="6247608"/>
            <a:ext cx="4320000" cy="360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pic>
        <p:nvPicPr>
          <p:cNvPr id="456" name="Google Shape;456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263" y="467526"/>
            <a:ext cx="11303726" cy="629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3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ar-SA"/>
              <a:t>ما لا يحتاج إلى نية</a:t>
            </a: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6336696" y="1515675"/>
            <a:ext cx="4045553" cy="14097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4BEB0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650" lIns="227250" spcFirstLastPara="1" rIns="227250" wrap="square" tIns="3446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(1) العبادة التي لا تلتبس بالعادة لا تحتاج إلى نيّةٍ؛ كالإيمان باللّه تعالى.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1829583" y="1515675"/>
            <a:ext cx="4045553" cy="14097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4BEB0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650" lIns="227250" spcFirstLastPara="1" rIns="227250" wrap="square" tIns="3446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(2) العبادة التي لا تلتبس بغيرها من العبادات -كالحجّ والعمرة- لا تحتاج إلى نية التمييز.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6336696" y="3187968"/>
            <a:ext cx="4045553" cy="14097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4BEB0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650" lIns="227250" spcFirstLastPara="1" rIns="227250" wrap="square" tIns="3446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(3) النّواهي والتّروك -كترك الزّنا والرّبا- لا تحتاج في تركها إلى نيّة؛ لحصول المقصود منها بالتّرك.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1829583" y="3187968"/>
            <a:ext cx="4045553" cy="14097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4BEB0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650" lIns="227250" spcFirstLastPara="1" rIns="227250" wrap="square" tIns="3446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(4) ما كانت دلالة الحال فيه قائمةً مقام النّيّة –عند الحنابلة-؛ ومما يتخرج على هذا:</a:t>
            </a:r>
            <a:endParaRPr/>
          </a:p>
        </p:txBody>
      </p:sp>
      <p:sp>
        <p:nvSpPr>
          <p:cNvPr id="466" name="Google Shape;466;p13"/>
          <p:cNvSpPr/>
          <p:nvPr/>
        </p:nvSpPr>
        <p:spPr>
          <a:xfrm>
            <a:off x="5846560" y="4914220"/>
            <a:ext cx="5094305" cy="996933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9D7E1">
              <a:alpha val="70196"/>
            </a:srgbClr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650" lIns="227250" spcFirstLastPara="1" rIns="227250" wrap="square" tIns="3446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في الوقف: يصحّ بالفعل مع ما يدلّ عليه عرفًا، ويقوم ذلك مقامَ القول.</a:t>
            </a:r>
            <a:endParaRPr/>
          </a:p>
        </p:txBody>
      </p:sp>
      <p:sp>
        <p:nvSpPr>
          <p:cNvPr id="467" name="Google Shape;467;p13"/>
          <p:cNvSpPr/>
          <p:nvPr/>
        </p:nvSpPr>
        <p:spPr>
          <a:xfrm>
            <a:off x="484584" y="4914220"/>
            <a:ext cx="5094305" cy="996933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9D7E1">
              <a:alpha val="70196"/>
            </a:srgbClr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650" lIns="227250" spcFirstLastPara="1" rIns="227250" wrap="square" tIns="3446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وقوع الخُلع والطّلاق بالكنايات من الألفاظ: ولا تشترط النّيّة عند وجود دلالة الحال.</a:t>
            </a:r>
            <a:endParaRPr/>
          </a:p>
        </p:txBody>
      </p:sp>
      <p:cxnSp>
        <p:nvCxnSpPr>
          <p:cNvPr id="468" name="Google Shape;468;p13"/>
          <p:cNvCxnSpPr>
            <a:stCxn id="465" idx="1"/>
            <a:endCxn id="466" idx="3"/>
          </p:cNvCxnSpPr>
          <p:nvPr/>
        </p:nvCxnSpPr>
        <p:spPr>
          <a:xfrm flipH="1" rot="-5400000">
            <a:off x="5964810" y="2485218"/>
            <a:ext cx="316500" cy="4541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E89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9" name="Google Shape;469;p13"/>
          <p:cNvCxnSpPr>
            <a:stCxn id="465" idx="1"/>
            <a:endCxn id="467" idx="3"/>
          </p:cNvCxnSpPr>
          <p:nvPr/>
        </p:nvCxnSpPr>
        <p:spPr>
          <a:xfrm rot="5400000">
            <a:off x="3283860" y="4345668"/>
            <a:ext cx="316500" cy="820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E89A7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4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ar-SA"/>
              <a:t>محل النية</a:t>
            </a: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5724525" y="1414669"/>
            <a:ext cx="5948362" cy="533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4BEB0"/>
          </a:solidFill>
          <a:ln cap="rnd" cmpd="sng" w="1905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محلّ النّيّة القلب عند عامّة الفقهاء. ويترتّب على هذا: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5574712" y="3120094"/>
            <a:ext cx="5362575" cy="533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589C1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اختلف الفقهاء في حكم التّلفّظ بها على قولين: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4940120" y="3826255"/>
            <a:ext cx="5553077" cy="1022933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9DED7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rPr>
              <a:t>(1) </a:t>
            </a: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أنه يستحبّ التّلفّظ بها سرًّا، وهو المذهب عند الحنابلة، وأطلق الحنفيّة والشّافعيّة الاستحباب.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4945295" y="5021949"/>
            <a:ext cx="5553077" cy="1022933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9DED7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rPr>
              <a:t>(2) </a:t>
            </a: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أنّه لا يستحبّ، وهو المنصوص عن أحمد، واختيار ابن تيميّة.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342900" y="3826255"/>
            <a:ext cx="4400550" cy="1022933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9C4E0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rPr>
              <a:t>دليله: </a:t>
            </a: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أنّ التّلفّظ بها له فوائد: ففيه تأكيد حتى يوافق اللّسان القلب، وأبعد عن الوسواس.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348075" y="5021949"/>
            <a:ext cx="4400550" cy="1022933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9C4E0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rPr>
              <a:t>دليله: </a:t>
            </a: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أنّ التّلفّظ بها لم ينقل عن النّبيّ ﷺ ولا عن أصحابه، ولو كان مشروعًا لم يهملوه، مع حاجة الأمّة إليه.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1" name="Google Shape;481;p14"/>
          <p:cNvCxnSpPr/>
          <p:nvPr/>
        </p:nvCxnSpPr>
        <p:spPr>
          <a:xfrm rot="5400000">
            <a:off x="11100075" y="2135119"/>
            <a:ext cx="602700" cy="228600"/>
          </a:xfrm>
          <a:prstGeom prst="bentConnector2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2" name="Google Shape;482;p14"/>
          <p:cNvCxnSpPr>
            <a:endCxn id="476" idx="0"/>
          </p:cNvCxnSpPr>
          <p:nvPr/>
        </p:nvCxnSpPr>
        <p:spPr>
          <a:xfrm rot="5400000">
            <a:off x="10804987" y="3079594"/>
            <a:ext cx="439500" cy="174900"/>
          </a:xfrm>
          <a:prstGeom prst="bentConnector2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p14"/>
          <p:cNvCxnSpPr>
            <a:endCxn id="477" idx="0"/>
          </p:cNvCxnSpPr>
          <p:nvPr/>
        </p:nvCxnSpPr>
        <p:spPr>
          <a:xfrm rot="5400000">
            <a:off x="10266997" y="3879622"/>
            <a:ext cx="684300" cy="231900"/>
          </a:xfrm>
          <a:prstGeom prst="bentConnector2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4" name="Google Shape;484;p14"/>
          <p:cNvCxnSpPr>
            <a:endCxn id="478" idx="0"/>
          </p:cNvCxnSpPr>
          <p:nvPr/>
        </p:nvCxnSpPr>
        <p:spPr>
          <a:xfrm rot="5400000">
            <a:off x="9671872" y="4480116"/>
            <a:ext cx="1879800" cy="226800"/>
          </a:xfrm>
          <a:prstGeom prst="bentConnector2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14"/>
          <p:cNvCxnSpPr>
            <a:stCxn id="477" idx="2"/>
            <a:endCxn id="479" idx="0"/>
          </p:cNvCxnSpPr>
          <p:nvPr/>
        </p:nvCxnSpPr>
        <p:spPr>
          <a:xfrm rot="10800000">
            <a:off x="4743320" y="4337722"/>
            <a:ext cx="196800" cy="0"/>
          </a:xfrm>
          <a:prstGeom prst="straightConnector1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6" name="Google Shape;486;p14"/>
          <p:cNvCxnSpPr>
            <a:stCxn id="478" idx="2"/>
            <a:endCxn id="480" idx="0"/>
          </p:cNvCxnSpPr>
          <p:nvPr/>
        </p:nvCxnSpPr>
        <p:spPr>
          <a:xfrm rot="10800000">
            <a:off x="4748495" y="5533416"/>
            <a:ext cx="196800" cy="0"/>
          </a:xfrm>
          <a:prstGeom prst="straightConnector1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p14"/>
          <p:cNvSpPr/>
          <p:nvPr/>
        </p:nvSpPr>
        <p:spPr>
          <a:xfrm>
            <a:off x="6657975" y="2150795"/>
            <a:ext cx="4629150" cy="8001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EE52A4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(1) أنّ التّلفّظ بها ليس شرطًا لصحّة العبادة؛ وهي مجزئة ولو لم يتلفّظ بها.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5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ar-SA"/>
              <a:t>محل النية</a:t>
            </a: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6657975" y="2150795"/>
            <a:ext cx="4629150" cy="800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(1) أنّ التّلفّظ بها ليس شرطًا لصحّة العبادة؛ وهي مجزئة ولو لم يتلفّظ بها.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p15"/>
          <p:cNvCxnSpPr>
            <a:endCxn id="493" idx="0"/>
          </p:cNvCxnSpPr>
          <p:nvPr/>
        </p:nvCxnSpPr>
        <p:spPr>
          <a:xfrm rot="5400000">
            <a:off x="11100075" y="2135195"/>
            <a:ext cx="602700" cy="228600"/>
          </a:xfrm>
          <a:prstGeom prst="bentConnector2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15"/>
          <p:cNvSpPr/>
          <p:nvPr/>
        </p:nvSpPr>
        <p:spPr>
          <a:xfrm>
            <a:off x="6657975" y="3335040"/>
            <a:ext cx="4629150" cy="800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(2) أن من سَبَق لسانه إلى أمرِ لم يقصده بقلبه؛ فلا يضرّه، وهذا محل إجماع.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15"/>
          <p:cNvCxnSpPr>
            <a:endCxn id="495" idx="0"/>
          </p:cNvCxnSpPr>
          <p:nvPr/>
        </p:nvCxnSpPr>
        <p:spPr>
          <a:xfrm rot="5400000">
            <a:off x="10526625" y="2745990"/>
            <a:ext cx="1749600" cy="228600"/>
          </a:xfrm>
          <a:prstGeom prst="bentConnector2">
            <a:avLst/>
          </a:prstGeom>
          <a:noFill/>
          <a:ln cap="flat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p15"/>
          <p:cNvSpPr/>
          <p:nvPr/>
        </p:nvSpPr>
        <p:spPr>
          <a:xfrm>
            <a:off x="5724525" y="1414669"/>
            <a:ext cx="5948362" cy="533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4BEB0"/>
          </a:solidFill>
          <a:ln cap="rnd" cmpd="sng" w="1905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محلّ النّيّة القلب عند عامّة الفقهاء. ويترتّب على هذا: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6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ar-SA"/>
              <a:t>موضع النية</a:t>
            </a:r>
            <a:endParaRPr/>
          </a:p>
        </p:txBody>
      </p:sp>
      <p:sp>
        <p:nvSpPr>
          <p:cNvPr id="503" name="Google Shape;503;p16"/>
          <p:cNvSpPr/>
          <p:nvPr/>
        </p:nvSpPr>
        <p:spPr>
          <a:xfrm>
            <a:off x="4104853" y="1609329"/>
            <a:ext cx="3982293" cy="881994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EE52A4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25" lIns="15225" spcFirstLastPara="1" rIns="1522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Arial"/>
              <a:buNone/>
            </a:pPr>
            <a:r>
              <a:rPr b="0" i="0" lang="ar-SA" sz="28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موضع النّيّة يكون في أوّل العبادة مقارنًا لها</a:t>
            </a:r>
            <a:endParaRPr b="0" i="0" sz="28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4104853" y="2491323"/>
            <a:ext cx="3982293" cy="881994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F589C1"/>
          </a:solidFill>
          <a:ln cap="rnd" cmpd="sng" w="19050">
            <a:solidFill>
              <a:srgbClr val="B9B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25" lIns="15225" spcFirstLastPara="1" rIns="1522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لكن جوّز الحنابلة تَقدُّم النّيّة بشرطين: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6286500" y="3803426"/>
            <a:ext cx="4486276" cy="881994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F4BEB0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25" lIns="15225" spcFirstLastPara="1" rIns="15225" wrap="square" tIns="15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B822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rPr>
              <a:t>(1) </a:t>
            </a: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أن ينوي قُبيل أوّل العبادة بزمنٍ يسيرٍ عرفًا.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6286500" y="4690587"/>
            <a:ext cx="4486276" cy="1111377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F9DED7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25" lIns="15225" spcFirstLastPara="1" rIns="1522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لأنّ التّقديم اليسير لا يخرج العبادة عن كونها منويّة، أمّا لو تقدّمت النّيّة بزمنٍ طويلٍ فلا تصحّ العبادة.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1409699" y="3803426"/>
            <a:ext cx="4486276" cy="881994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F4BEB0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25" lIns="15225" spcFirstLastPara="1" rIns="15225" wrap="square" tIns="15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B822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rPr>
              <a:t>(2) </a:t>
            </a: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ألّا تكون النّيّة قبل دخول وقت العبادة المؤقّتة.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1409699" y="4690587"/>
            <a:ext cx="4486276" cy="1111377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F9DED7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25" lIns="15225" spcFirstLastPara="1" rIns="1522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9B822"/>
              </a:buClr>
              <a:buSzPts val="2400"/>
              <a:buFont typeface="Arial"/>
              <a:buNone/>
            </a:pPr>
            <a:r>
              <a:rPr b="0" i="0" lang="ar-SA" sz="2400" u="none" cap="none" strike="noStrike">
                <a:solidFill>
                  <a:srgbClr val="B9B822"/>
                </a:solidFill>
                <a:latin typeface="Arial"/>
                <a:ea typeface="Arial"/>
                <a:cs typeface="Arial"/>
                <a:sym typeface="Arial"/>
              </a:rPr>
              <a:t>مثاله: </a:t>
            </a: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في الصّلاة المفروضة لا اعتبار للنّية إن عقدها قبل دخول الوقت.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7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ar-SA"/>
              <a:t>شروط النية</a:t>
            </a:r>
            <a:endParaRPr/>
          </a:p>
        </p:txBody>
      </p:sp>
      <p:sp>
        <p:nvSpPr>
          <p:cNvPr id="514" name="Google Shape;514;p17"/>
          <p:cNvSpPr/>
          <p:nvPr/>
        </p:nvSpPr>
        <p:spPr>
          <a:xfrm>
            <a:off x="8788450" y="1396925"/>
            <a:ext cx="2682375" cy="628650"/>
          </a:xfrm>
          <a:prstGeom prst="plaque">
            <a:avLst>
              <a:gd fmla="val 16667" name="adj"/>
            </a:avLst>
          </a:prstGeom>
          <a:solidFill>
            <a:srgbClr val="F9D7E1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(1) الإسلام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7"/>
          <p:cNvSpPr/>
          <p:nvPr/>
        </p:nvSpPr>
        <p:spPr>
          <a:xfrm>
            <a:off x="4766404" y="1396925"/>
            <a:ext cx="2682375" cy="628650"/>
          </a:xfrm>
          <a:prstGeom prst="plaque">
            <a:avLst>
              <a:gd fmla="val 16667" name="adj"/>
            </a:avLst>
          </a:prstGeom>
          <a:solidFill>
            <a:srgbClr val="F9D7E1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(2) العقل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715722" y="1396925"/>
            <a:ext cx="2682375" cy="628650"/>
          </a:xfrm>
          <a:prstGeom prst="plaque">
            <a:avLst>
              <a:gd fmla="val 16667" name="adj"/>
            </a:avLst>
          </a:prstGeom>
          <a:solidFill>
            <a:srgbClr val="F9D7E1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(3) التمييز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7448779" y="3442571"/>
            <a:ext cx="2682375" cy="628650"/>
          </a:xfrm>
          <a:prstGeom prst="plaque">
            <a:avLst>
              <a:gd fmla="val 16667" name="adj"/>
            </a:avLst>
          </a:prstGeom>
          <a:solidFill>
            <a:srgbClr val="F9D7E1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(4) العلم بالمنوي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2098944" y="3422394"/>
            <a:ext cx="2682375" cy="628650"/>
          </a:xfrm>
          <a:prstGeom prst="plaque">
            <a:avLst>
              <a:gd fmla="val 16667" name="adj"/>
            </a:avLst>
          </a:prstGeom>
          <a:solidFill>
            <a:srgbClr val="F9D7E1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(5) ألّا يأتي بمنافٍ لها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8330929" y="2025575"/>
            <a:ext cx="3600449" cy="1152525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فغير المسلم غير مطالب بنية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4085896" y="2025575"/>
            <a:ext cx="4032292" cy="1152525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ويُستثنى منه: ما لا يستلزم العقل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256686" y="2025575"/>
            <a:ext cx="3600449" cy="1152525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ويُستثنى منه: الحجّ والعمرة؛ فيصحّان من غير المميِّز بإذن وليِّه، ويُحرِم عنه وليُّه.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6989743" y="4062554"/>
            <a:ext cx="3600449" cy="1152525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لأنّ ما لا يُعلم معناه لا يصحّ قصده، والنّيّة تتبع العلمَ.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2113324" y="4051044"/>
            <a:ext cx="2682375" cy="463041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وينافي النية أمورٌ: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4641655" y="4649739"/>
            <a:ext cx="2016513" cy="65629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7E1">
              <a:alpha val="50196"/>
            </a:srgbClr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1- عدم التركيز.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2463458" y="4649739"/>
            <a:ext cx="2016513" cy="65629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7E1">
              <a:alpha val="50196"/>
            </a:srgbClr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2-قطع النية.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285261" y="4649739"/>
            <a:ext cx="2016513" cy="65629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7E1">
              <a:alpha val="50196"/>
            </a:srgbClr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3- العزم على قطع النية.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4641655" y="5417556"/>
            <a:ext cx="2016513" cy="65629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7E1">
              <a:alpha val="50196"/>
            </a:srgbClr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4-التردد في النية.</a:t>
            </a:r>
            <a:endParaRPr/>
          </a:p>
        </p:txBody>
      </p:sp>
      <p:sp>
        <p:nvSpPr>
          <p:cNvPr id="528" name="Google Shape;528;p17"/>
          <p:cNvSpPr/>
          <p:nvPr/>
        </p:nvSpPr>
        <p:spPr>
          <a:xfrm>
            <a:off x="2463458" y="5417556"/>
            <a:ext cx="2016513" cy="65629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7E1">
              <a:alpha val="50196"/>
            </a:srgbClr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5-الشك في النية أثناء العمل.</a:t>
            </a:r>
            <a:endParaRPr/>
          </a:p>
        </p:txBody>
      </p:sp>
      <p:sp>
        <p:nvSpPr>
          <p:cNvPr id="529" name="Google Shape;529;p17"/>
          <p:cNvSpPr/>
          <p:nvPr/>
        </p:nvSpPr>
        <p:spPr>
          <a:xfrm>
            <a:off x="285261" y="5417556"/>
            <a:ext cx="2016513" cy="65629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7E1">
              <a:alpha val="50196"/>
            </a:srgbClr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6-الرياء.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8"/>
          <p:cNvSpPr/>
          <p:nvPr>
            <p:ph type="title"/>
          </p:nvPr>
        </p:nvSpPr>
        <p:spPr>
          <a:xfrm>
            <a:off x="1698803" y="467526"/>
            <a:ext cx="8794394" cy="711695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1D349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ar-SA"/>
              <a:t>شروط النية</a:t>
            </a:r>
            <a:endParaRPr/>
          </a:p>
        </p:txBody>
      </p:sp>
      <p:sp>
        <p:nvSpPr>
          <p:cNvPr id="535" name="Google Shape;535;p18"/>
          <p:cNvSpPr/>
          <p:nvPr/>
        </p:nvSpPr>
        <p:spPr>
          <a:xfrm>
            <a:off x="4480308" y="1842650"/>
            <a:ext cx="3403237" cy="628650"/>
          </a:xfrm>
          <a:prstGeom prst="plaque">
            <a:avLst>
              <a:gd fmla="val 16667" name="adj"/>
            </a:avLst>
          </a:prstGeom>
          <a:solidFill>
            <a:srgbClr val="F9D7E1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أقسام استصحاب النية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6619375" y="2820050"/>
            <a:ext cx="3273247" cy="823771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(1) استصحاب حكمها.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2683034" y="2820050"/>
            <a:ext cx="3273247" cy="823771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(2) استصحاب ذكرها.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8"/>
          <p:cNvSpPr/>
          <p:nvPr/>
        </p:nvSpPr>
        <p:spPr>
          <a:xfrm>
            <a:off x="6619376" y="3657201"/>
            <a:ext cx="3273247" cy="129832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7E1">
              <a:alpha val="50196"/>
            </a:srgbClr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وهذا واجبٌ في العمل كلّه فلا ينوي قطعها.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2683033" y="3657201"/>
            <a:ext cx="3273247" cy="129832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9D7E1">
              <a:alpha val="50196"/>
            </a:srgbClr>
          </a:solidFill>
          <a:ln cap="rnd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2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وهذا مستحبٌّ، وإذا غفل عنها صحّ العمل، وتسمّى حينئذٍ: «نيّة حكميّةٌ».</a:t>
            </a:r>
            <a:endParaRPr b="0" i="0" sz="2400" u="none" cap="none" strike="noStrike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0" name="Google Shape;540;p18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53800" y="6168036"/>
            <a:ext cx="439572" cy="439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42880" y="5981970"/>
            <a:ext cx="1242091" cy="490174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9"/>
          <p:cNvSpPr txBox="1"/>
          <p:nvPr/>
        </p:nvSpPr>
        <p:spPr>
          <a:xfrm>
            <a:off x="457200" y="6027002"/>
            <a:ext cx="947865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2000" u="none" cap="none" strike="noStrike">
                <a:solidFill>
                  <a:srgbClr val="CBE7EA"/>
                </a:solidFill>
                <a:latin typeface="Tajawal"/>
                <a:ea typeface="Tajawal"/>
                <a:cs typeface="Tajawal"/>
                <a:sym typeface="Tajawal"/>
              </a:rPr>
              <a:t>Ihsan Academy - 2024</a:t>
            </a:r>
            <a:endParaRPr/>
          </a:p>
        </p:txBody>
      </p:sp>
      <p:sp>
        <p:nvSpPr>
          <p:cNvPr id="548" name="Google Shape;548;p19"/>
          <p:cNvSpPr txBox="1"/>
          <p:nvPr/>
        </p:nvSpPr>
        <p:spPr>
          <a:xfrm>
            <a:off x="42930" y="2951946"/>
            <a:ext cx="1219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rgbClr val="CBE7EA"/>
                </a:solidFill>
                <a:latin typeface="Tajawal"/>
                <a:ea typeface="Tajawal"/>
                <a:cs typeface="Tajawal"/>
                <a:sym typeface="Tajawal"/>
              </a:rPr>
              <a:t>شكراً جزيلاً</a:t>
            </a:r>
            <a:endParaRPr b="1" sz="2800">
              <a:solidFill>
                <a:srgbClr val="CBE7EA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نسق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 Boardroom">
  <a:themeElements>
    <a:clrScheme name="Ion Boardroom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2022-01-05T23:36:24Z</dcterms:created>
  <dc:creator>Noura Al Zaid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0x01010012CEA1800D3DB44C91F7DEC2F652FD70</vt:lpwstr>
  </property>
  <property fmtid="{D5CDD505-2E9C-101B-9397-08002B2CF9AE}" pid="3" name="Order">
    <vt:r8>1.28861E7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MediaServiceImageTags">
    <vt:lpwstr/>
  </property>
</Properties>
</file>